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2;p13"/>
          <p:cNvSpPr txBox="1"/>
          <p:nvPr/>
        </p:nvSpPr>
        <p:spPr>
          <a:xfrm>
            <a:off x="715229" y="4679100"/>
            <a:ext cx="20876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700">
                <a:solidFill>
                  <a:srgbClr val="0057A8"/>
                </a:solid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ALFIE has received </a:t>
            </a:r>
            <a:r>
              <a:rPr>
                <a:solidFill>
                  <a:srgbClr val="114A92"/>
                </a:solidFill>
              </a:rPr>
              <a:t>funding</a:t>
            </a:r>
            <a:r>
              <a:t>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08" name="Google Shape;53;p13" descr="Google Shape;53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279" y="4662899"/>
            <a:ext cx="520831" cy="343711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grpSp>
        <p:nvGrpSpPr>
          <p:cNvPr id="111" name="Google Shape;54;p13"/>
          <p:cNvGrpSpPr/>
          <p:nvPr/>
        </p:nvGrpSpPr>
        <p:grpSpPr>
          <a:xfrm>
            <a:off x="-1" y="1161809"/>
            <a:ext cx="9143822" cy="343711"/>
            <a:chOff x="0" y="0"/>
            <a:chExt cx="9143820" cy="343710"/>
          </a:xfrm>
        </p:grpSpPr>
        <p:sp>
          <p:nvSpPr>
            <p:cNvPr id="109" name="Rectangle"/>
            <p:cNvSpPr/>
            <p:nvPr/>
          </p:nvSpPr>
          <p:spPr>
            <a:xfrm>
              <a:off x="-1" y="-1"/>
              <a:ext cx="9143822" cy="343712"/>
            </a:xfrm>
            <a:prstGeom prst="rect">
              <a:avLst/>
            </a:prstGeom>
            <a:solidFill>
              <a:srgbClr val="067E7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5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" name="Assessment of Learning technologies and Frameworks for Intelligent and Ethical AI"/>
            <p:cNvSpPr txBox="1"/>
            <p:nvPr/>
          </p:nvSpPr>
          <p:spPr>
            <a:xfrm>
              <a:off x="33749" y="30155"/>
              <a:ext cx="9076322" cy="28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3749" tIns="33749" rIns="33749" bIns="33749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pPr/>
              <a:r>
                <a:t>Assessment of Learning technologies and Frameworks for Intelligent and Ethical AI</a:t>
              </a:r>
            </a:p>
          </p:txBody>
        </p:sp>
      </p:grpSp>
      <p:pic>
        <p:nvPicPr>
          <p:cNvPr id="112" name="Google Shape;55;p13" descr="Google Shape;55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94920" y="2743200"/>
            <a:ext cx="2247481" cy="2247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Google Shape;56;p13" descr="Google Shape;56;p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638439" y="213299"/>
            <a:ext cx="3867211" cy="90855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22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24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itle Text"/>
          <p:cNvSpPr txBox="1"/>
          <p:nvPr>
            <p:ph type="title"/>
          </p:nvPr>
        </p:nvSpPr>
        <p:spPr>
          <a:xfrm>
            <a:off x="457109" y="205199"/>
            <a:ext cx="8229332" cy="858602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90000"/>
              </a:lnSpc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7" name="Body Level One…"/>
          <p:cNvSpPr txBox="1"/>
          <p:nvPr>
            <p:ph type="body" idx="1"/>
          </p:nvPr>
        </p:nvSpPr>
        <p:spPr>
          <a:xfrm>
            <a:off x="457109" y="1203390"/>
            <a:ext cx="8229332" cy="2982960"/>
          </a:xfrm>
          <a:prstGeom prst="rect">
            <a:avLst/>
          </a:prstGeom>
        </p:spPr>
        <p:txBody>
          <a:bodyPr lIns="0" tIns="0" rIns="0" bIns="0"/>
          <a:lstStyle>
            <a:lvl1pPr indent="-31750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1pPr>
            <a:lvl2pPr marL="967316" indent="-370416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2pPr>
            <a:lvl3pPr marL="1498600" indent="-44450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3pPr>
            <a:lvl4pPr marL="1987550" indent="-47625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4pPr>
            <a:lvl5pPr marL="2444750" indent="-476250">
              <a:lnSpc>
                <a:spcPct val="90000"/>
              </a:lnSpc>
              <a:spcBef>
                <a:spcPts val="800"/>
              </a:spcBef>
              <a:buClr>
                <a:srgbClr val="0B3550"/>
              </a:buClr>
              <a:buSzPts val="2100"/>
              <a:buChar char="•"/>
              <a:defRPr sz="21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xfrm>
            <a:off x="8909446" y="4864960"/>
            <a:ext cx="185505" cy="195551"/>
          </a:xfrm>
          <a:prstGeom prst="rect">
            <a:avLst/>
          </a:prstGeom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6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38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itle Text"/>
          <p:cNvSpPr txBox="1"/>
          <p:nvPr>
            <p:ph type="title"/>
          </p:nvPr>
        </p:nvSpPr>
        <p:spPr>
          <a:xfrm>
            <a:off x="1645294" y="334143"/>
            <a:ext cx="5853302" cy="606600"/>
          </a:xfrm>
          <a:prstGeom prst="rect">
            <a:avLst/>
          </a:prstGeom>
        </p:spPr>
        <p:txBody>
          <a:bodyPr lIns="26775" tIns="26775" rIns="26775" bIns="26775" anchor="ctr"/>
          <a:lstStyle>
            <a:lvl1pPr>
              <a:defRPr sz="39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1" name="Body Level One…"/>
          <p:cNvSpPr txBox="1"/>
          <p:nvPr>
            <p:ph type="body" idx="1"/>
          </p:nvPr>
        </p:nvSpPr>
        <p:spPr>
          <a:xfrm>
            <a:off x="1645294" y="1014275"/>
            <a:ext cx="5853302" cy="3862800"/>
          </a:xfrm>
          <a:prstGeom prst="rect">
            <a:avLst/>
          </a:prstGeom>
        </p:spPr>
        <p:txBody>
          <a:bodyPr lIns="26775" tIns="26775" rIns="26775" bIns="26775" anchor="ctr"/>
          <a:lstStyle>
            <a:lvl1pPr indent="-3810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91960" indent="-43951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511829" indent="-476779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005445" indent="-50049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628900" indent="-6477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"/>
              <a:buChar char="•"/>
              <a:defRPr sz="17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31442" y="4938117"/>
            <a:ext cx="158922" cy="167851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0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52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itle Text"/>
          <p:cNvSpPr txBox="1"/>
          <p:nvPr>
            <p:ph type="title"/>
          </p:nvPr>
        </p:nvSpPr>
        <p:spPr>
          <a:xfrm>
            <a:off x="476250" y="304800"/>
            <a:ext cx="8191500" cy="5841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>
              <a:lnSpc>
                <a:spcPct val="80000"/>
              </a:lnSpc>
              <a:defRPr sz="3200">
                <a:solidFill>
                  <a:srgbClr val="0B355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sz="quarter" idx="1"/>
          </p:nvPr>
        </p:nvSpPr>
        <p:spPr>
          <a:xfrm>
            <a:off x="476250" y="800100"/>
            <a:ext cx="8191500" cy="381000"/>
          </a:xfrm>
          <a:prstGeom prst="rect">
            <a:avLst/>
          </a:prstGeom>
        </p:spPr>
        <p:txBody>
          <a:bodyPr lIns="19050" tIns="19050" rIns="19050" bIns="19050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000">
                <a:solidFill>
                  <a:srgbClr val="0B3550"/>
                </a:solidFill>
              </a:defRPr>
            </a:lvl1pPr>
            <a:lvl2pPr marL="945444" indent="-310444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2pPr>
            <a:lvl3pPr marL="1464733" indent="-372533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3pPr>
            <a:lvl4pPr marL="1948542" indent="-399142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4pPr>
            <a:lvl5pPr marL="2405742" indent="-399142" algn="ctr">
              <a:lnSpc>
                <a:spcPct val="100000"/>
              </a:lnSpc>
              <a:buClrTx/>
              <a:buSzPts val="2000"/>
              <a:buFontTx/>
              <a:buChar char="•"/>
              <a:defRPr sz="20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Google Shape;81;p18"/>
          <p:cNvSpPr txBox="1"/>
          <p:nvPr>
            <p:ph type="body" idx="21"/>
          </p:nvPr>
        </p:nvSpPr>
        <p:spPr>
          <a:xfrm>
            <a:off x="476250" y="1600200"/>
            <a:ext cx="8191500" cy="3162300"/>
          </a:xfrm>
          <a:prstGeom prst="rect">
            <a:avLst/>
          </a:prstGeom>
        </p:spPr>
        <p:txBody>
          <a:bodyPr lIns="19050" tIns="19050" rIns="19050" bIns="19050"/>
          <a:lstStyle/>
          <a:p>
            <a:pPr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Char char="•"/>
              <a:defRPr>
                <a:solidFill>
                  <a:srgbClr val="0B3550"/>
                </a:solidFill>
              </a:defRPr>
            </a:pPr>
          </a:p>
        </p:txBody>
      </p:sp>
      <p:sp>
        <p:nvSpPr>
          <p:cNvPr id="157" name="Slide Number"/>
          <p:cNvSpPr txBox="1"/>
          <p:nvPr>
            <p:ph type="sldNum" sz="quarter" idx="2"/>
          </p:nvPr>
        </p:nvSpPr>
        <p:spPr>
          <a:xfrm>
            <a:off x="4487703" y="4917998"/>
            <a:ext cx="163812" cy="149077"/>
          </a:xfrm>
          <a:prstGeom prst="rect">
            <a:avLst/>
          </a:prstGeom>
        </p:spPr>
        <p:txBody>
          <a:bodyPr lIns="19050" tIns="19050" rIns="19050" bIns="19050" anchor="b">
            <a:spAutoFit/>
          </a:bodyPr>
          <a:lstStyle>
            <a:lvl1pPr algn="ctr">
              <a:defRPr sz="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5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67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7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79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Title Text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2" name="Body Level One…"/>
          <p:cNvSpPr txBox="1"/>
          <p:nvPr>
            <p:ph type="body" idx="1"/>
          </p:nvPr>
        </p:nvSpPr>
        <p:spPr>
          <a:xfrm>
            <a:off x="633412" y="1181100"/>
            <a:ext cx="7877101" cy="3486300"/>
          </a:xfrm>
          <a:prstGeom prst="rect">
            <a:avLst/>
          </a:prstGeom>
        </p:spPr>
        <p:txBody>
          <a:bodyPr lIns="19050" tIns="19050" rIns="19050" bIns="19050" anchor="ctr"/>
          <a:lstStyle>
            <a:lvl1pPr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1pPr>
            <a:lvl2pPr marL="9144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2pPr>
            <a:lvl3pPr marL="13716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3pPr>
            <a:lvl4pPr marL="18288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4pPr>
            <a:lvl5pPr marL="2286000" indent="-374650">
              <a:lnSpc>
                <a:spcPct val="100000"/>
              </a:lnSpc>
              <a:spcBef>
                <a:spcPts val="2200"/>
              </a:spcBef>
              <a:buClr>
                <a:srgbClr val="000000"/>
              </a:buClr>
              <a:buFont typeface="Helvetica Neue"/>
              <a:buChar char="•"/>
              <a:defRPr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1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193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itle Text"/>
          <p:cNvSpPr txBox="1"/>
          <p:nvPr>
            <p:ph type="title"/>
          </p:nvPr>
        </p:nvSpPr>
        <p:spPr>
          <a:xfrm>
            <a:off x="633412" y="133350"/>
            <a:ext cx="7877101" cy="857400"/>
          </a:xfrm>
          <a:prstGeom prst="rect">
            <a:avLst/>
          </a:prstGeom>
        </p:spPr>
        <p:txBody>
          <a:bodyPr lIns="19050" tIns="19050" rIns="19050" bIns="19050" anchor="ctr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xfrm>
            <a:off x="4480736" y="4905375"/>
            <a:ext cx="177902" cy="174485"/>
          </a:xfrm>
          <a:prstGeom prst="rect">
            <a:avLst/>
          </a:prstGeom>
        </p:spPr>
        <p:txBody>
          <a:bodyPr lIns="19050" tIns="19050" rIns="19050" bIns="19050" anchor="t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4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206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itle Text"/>
          <p:cNvSpPr txBox="1"/>
          <p:nvPr>
            <p:ph type="title"/>
          </p:nvPr>
        </p:nvSpPr>
        <p:spPr>
          <a:xfrm>
            <a:off x="1645294" y="334143"/>
            <a:ext cx="5853302" cy="606600"/>
          </a:xfrm>
          <a:prstGeom prst="rect">
            <a:avLst/>
          </a:prstGeom>
        </p:spPr>
        <p:txBody>
          <a:bodyPr lIns="26775" tIns="26775" rIns="26775" bIns="26775" anchor="ctr"/>
          <a:lstStyle>
            <a:lvl1pPr>
              <a:defRPr sz="3900">
                <a:solidFill>
                  <a:srgbClr val="0B355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9" name="Body Level One…"/>
          <p:cNvSpPr txBox="1"/>
          <p:nvPr>
            <p:ph type="body" idx="1"/>
          </p:nvPr>
        </p:nvSpPr>
        <p:spPr>
          <a:xfrm>
            <a:off x="1645294" y="1014275"/>
            <a:ext cx="5853302" cy="3862800"/>
          </a:xfrm>
          <a:prstGeom prst="rect">
            <a:avLst/>
          </a:prstGeom>
        </p:spPr>
        <p:txBody>
          <a:bodyPr lIns="26775" tIns="26775" rIns="26775" bIns="26775" anchor="ctr"/>
          <a:lstStyle>
            <a:lvl1pPr indent="-3810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1pPr>
            <a:lvl2pPr marL="991960" indent="-43951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2pPr>
            <a:lvl3pPr marL="1511829" indent="-476779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3pPr>
            <a:lvl4pPr marL="2005445" indent="-500495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4pPr>
            <a:lvl5pPr marL="2628900" indent="-6477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ts val="1700"/>
              <a:buFont typeface="Helvetica Neue"/>
              <a:buChar char="•"/>
              <a:defRPr sz="17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0" name="Slide Number"/>
          <p:cNvSpPr txBox="1"/>
          <p:nvPr>
            <p:ph type="sldNum" sz="quarter" idx="2"/>
          </p:nvPr>
        </p:nvSpPr>
        <p:spPr>
          <a:xfrm>
            <a:off x="1231442" y="4938117"/>
            <a:ext cx="158922" cy="167851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62;p15"/>
          <p:cNvSpPr/>
          <p:nvPr/>
        </p:nvSpPr>
        <p:spPr>
          <a:xfrm rot="10800000">
            <a:off x="270" y="4756320"/>
            <a:ext cx="9143821" cy="386911"/>
          </a:xfrm>
          <a:prstGeom prst="rect">
            <a:avLst/>
          </a:prstGeom>
          <a:solidFill>
            <a:srgbClr val="067E7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8" name="Google Shape;63;p15" descr="Google Shape;63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88829" y="4823550"/>
            <a:ext cx="405811" cy="27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Google Shape;64;p15"/>
          <p:cNvSpPr txBox="1"/>
          <p:nvPr/>
        </p:nvSpPr>
        <p:spPr>
          <a:xfrm>
            <a:off x="6792659" y="4859459"/>
            <a:ext cx="135999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z="5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defRPr>
            </a:pPr>
            <a:r>
              <a:t>ALFIE has received funding by the European Union’s Horizon Europe research and innovation programme </a:t>
            </a:r>
            <a:br/>
            <a:r>
              <a:t>under Grant Agreement N° 101177912</a:t>
            </a:r>
          </a:p>
        </p:txBody>
      </p:sp>
      <p:pic>
        <p:nvPicPr>
          <p:cNvPr id="220" name="Google Shape;67;p15" descr="Google Shape;67;p15"/>
          <p:cNvPicPr>
            <a:picLocks noChangeAspect="1"/>
          </p:cNvPicPr>
          <p:nvPr/>
        </p:nvPicPr>
        <p:blipFill>
          <a:blip r:embed="rId3">
            <a:extLst/>
          </a:blip>
          <a:srcRect l="0" t="0" r="81351" b="0"/>
          <a:stretch>
            <a:fillRect/>
          </a:stretch>
        </p:blipFill>
        <p:spPr>
          <a:xfrm>
            <a:off x="91529" y="4880250"/>
            <a:ext cx="194402" cy="182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Google Shape;68;p15" descr="Google Shape;68;p15"/>
          <p:cNvPicPr>
            <a:picLocks noChangeAspect="1"/>
          </p:cNvPicPr>
          <p:nvPr/>
        </p:nvPicPr>
        <p:blipFill>
          <a:blip r:embed="rId4">
            <a:extLst/>
          </a:blip>
          <a:srcRect l="18553" t="0" r="0" b="11694"/>
          <a:stretch>
            <a:fillRect/>
          </a:stretch>
        </p:blipFill>
        <p:spPr>
          <a:xfrm>
            <a:off x="282960" y="4880250"/>
            <a:ext cx="849961" cy="16119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itle Text"/>
          <p:cNvSpPr txBox="1"/>
          <p:nvPr>
            <p:ph type="title"/>
          </p:nvPr>
        </p:nvSpPr>
        <p:spPr>
          <a:xfrm>
            <a:off x="1812725" y="863946"/>
            <a:ext cx="5518501" cy="1741201"/>
          </a:xfrm>
          <a:prstGeom prst="rect">
            <a:avLst/>
          </a:prstGeom>
        </p:spPr>
        <p:txBody>
          <a:bodyPr lIns="26775" tIns="26775" rIns="26775" bIns="26775" anchor="b"/>
          <a:lstStyle>
            <a:lvl1pPr algn="ctr">
              <a:defRPr sz="3300">
                <a:solidFill>
                  <a:srgbClr val="0B3550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3" name="Body Level One…"/>
          <p:cNvSpPr txBox="1"/>
          <p:nvPr>
            <p:ph type="body" sz="quarter" idx="1"/>
          </p:nvPr>
        </p:nvSpPr>
        <p:spPr>
          <a:xfrm>
            <a:off x="1812725" y="2658814"/>
            <a:ext cx="5518501" cy="596101"/>
          </a:xfrm>
          <a:prstGeom prst="rect">
            <a:avLst/>
          </a:prstGeom>
        </p:spPr>
        <p:txBody>
          <a:bodyPr lIns="26775" tIns="26775" rIns="26775" bIns="26775"/>
          <a:lstStyle>
            <a:lvl1pPr marL="228600" indent="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1pPr>
            <a:lvl2pPr marL="228600" indent="4572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2pPr>
            <a:lvl3pPr marL="228600" indent="9144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3pPr>
            <a:lvl4pPr marL="228600" indent="13716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4pPr>
            <a:lvl5pPr marL="228600" indent="18288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rgbClr val="0B355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xfrm>
            <a:off x="4480624" y="4902398"/>
            <a:ext cx="179230" cy="177603"/>
          </a:xfrm>
          <a:prstGeom prst="rect">
            <a:avLst/>
          </a:prstGeom>
        </p:spPr>
        <p:txBody>
          <a:bodyPr lIns="26775" tIns="26775" rIns="26775" bIns="26775" anchor="t">
            <a:spAutoFit/>
          </a:bodyPr>
          <a:lstStyle>
            <a:lvl1pPr algn="ctr">
              <a:defRPr sz="8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105;p24" descr="Google Shape;105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0820" y="962820"/>
            <a:ext cx="2516130" cy="59103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8726116" y="4797189"/>
            <a:ext cx="185505" cy="195551"/>
          </a:xfrm>
          <a:prstGeom prst="rect">
            <a:avLst/>
          </a:prstGeom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0B355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110;p26" descr="Google Shape;110;p2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59159" y="458999"/>
            <a:ext cx="4225232" cy="4225232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2.tif"/><Relationship Id="rId5" Type="http://schemas.openxmlformats.org/officeDocument/2006/relationships/image" Target="../media/image10.png"/><Relationship Id="rId6" Type="http://schemas.openxmlformats.org/officeDocument/2006/relationships/image" Target="../media/image3.tif"/><Relationship Id="rId7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Relationship Id="rId3" Type="http://schemas.openxmlformats.org/officeDocument/2006/relationships/image" Target="../media/image1.tif"/><Relationship Id="rId4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118;p28"/>
          <p:cNvSpPr txBox="1"/>
          <p:nvPr>
            <p:ph type="title" idx="4294967295"/>
          </p:nvPr>
        </p:nvSpPr>
        <p:spPr>
          <a:xfrm>
            <a:off x="1142909" y="1584899"/>
            <a:ext cx="6857732" cy="1047330"/>
          </a:xfrm>
          <a:prstGeom prst="rect">
            <a:avLst/>
          </a:prstGeom>
        </p:spPr>
        <p:txBody>
          <a:bodyPr lIns="34275" tIns="34275" rIns="34275" bIns="34275" anchor="ctr"/>
          <a:lstStyle/>
          <a:p>
            <a:pPr algn="ctr">
              <a:lnSpc>
                <a:spcPct val="90000"/>
              </a:lnSpc>
              <a:defRPr sz="2700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AutoML Platform</a:t>
            </a:r>
          </a:p>
          <a:p>
            <a:pPr algn="ctr">
              <a:lnSpc>
                <a:spcPct val="90000"/>
              </a:lnSpc>
              <a:defRPr sz="2700"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Workshop</a:t>
            </a:r>
          </a:p>
        </p:txBody>
      </p:sp>
      <p:sp>
        <p:nvSpPr>
          <p:cNvPr id="250" name="Google Shape;119;p28"/>
          <p:cNvSpPr txBox="1"/>
          <p:nvPr>
            <p:ph type="body" sz="quarter" idx="4294967295"/>
          </p:nvPr>
        </p:nvSpPr>
        <p:spPr>
          <a:xfrm>
            <a:off x="1142909" y="2701619"/>
            <a:ext cx="6857732" cy="1241461"/>
          </a:xfrm>
          <a:prstGeom prst="rect">
            <a:avLst/>
          </a:prstGeom>
        </p:spPr>
        <p:txBody>
          <a:bodyPr lIns="34275" tIns="34275" rIns="34275" bIns="34275" anchor="ctr"/>
          <a:lstStyle/>
          <a:p>
            <a:pPr marL="0" indent="177800" algn="ctr">
              <a:lnSpc>
                <a:spcPct val="90000"/>
              </a:lnSpc>
              <a:buSzTx/>
              <a:buNone/>
              <a:defRPr sz="2100">
                <a:solidFill>
                  <a:srgbClr val="1034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1st GA</a:t>
            </a:r>
          </a:p>
          <a:p>
            <a:pPr marL="0" indent="177800" algn="ctr">
              <a:lnSpc>
                <a:spcPct val="90000"/>
              </a:lnSpc>
              <a:buSzTx/>
              <a:buNone/>
              <a:defRPr sz="2100">
                <a:solidFill>
                  <a:srgbClr val="1034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TU/e</a:t>
            </a:r>
          </a:p>
        </p:txBody>
      </p:sp>
      <p:sp>
        <p:nvSpPr>
          <p:cNvPr id="251" name="Google Shape;120;p28"/>
          <p:cNvSpPr/>
          <p:nvPr/>
        </p:nvSpPr>
        <p:spPr>
          <a:xfrm>
            <a:off x="460175" y="2571750"/>
            <a:ext cx="2612701" cy="1754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17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518" y="21600"/>
                  <a:pt x="19183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1082" y="0"/>
                  <a:pt x="2417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99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52" name="Google Shape;122;p28"/>
          <p:cNvSpPr txBox="1"/>
          <p:nvPr/>
        </p:nvSpPr>
        <p:spPr>
          <a:xfrm>
            <a:off x="750549" y="3770850"/>
            <a:ext cx="2287802" cy="429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700">
                <a:solidFill>
                  <a:srgbClr val="0B3550"/>
                </a:solidFill>
              </a:defRPr>
            </a:lvl1pPr>
          </a:lstStyle>
          <a:p>
            <a:pPr/>
            <a:r>
              <a:t>AutoML Framework</a:t>
            </a:r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8074" y="2342267"/>
            <a:ext cx="1332752" cy="15000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81;p35"/>
          <p:cNvSpPr txBox="1"/>
          <p:nvPr>
            <p:ph type="title"/>
          </p:nvPr>
        </p:nvSpPr>
        <p:spPr>
          <a:xfrm>
            <a:off x="510549" y="0"/>
            <a:ext cx="7886402" cy="795902"/>
          </a:xfrm>
          <a:prstGeom prst="rect">
            <a:avLst/>
          </a:prstGeom>
        </p:spPr>
        <p:txBody>
          <a:bodyPr lIns="34275" tIns="34275" rIns="34275" bIns="34275"/>
          <a:lstStyle>
            <a:lvl1pPr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56" name="Google Shape;182;p35"/>
          <p:cNvSpPr txBox="1"/>
          <p:nvPr>
            <p:ph type="sldNum" sz="quarter" idx="4294967295"/>
          </p:nvPr>
        </p:nvSpPr>
        <p:spPr>
          <a:xfrm>
            <a:off x="8961542" y="4864945"/>
            <a:ext cx="133379" cy="1955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4275" tIns="34275" rIns="34275" bIns="34275">
            <a:spAutoFit/>
          </a:bodyPr>
          <a:lstStyle>
            <a:lvl1pPr>
              <a:defRPr sz="9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57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13" y="1231726"/>
            <a:ext cx="576405" cy="55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Google Shape;184;p35"/>
          <p:cNvSpPr/>
          <p:nvPr/>
        </p:nvSpPr>
        <p:spPr>
          <a:xfrm>
            <a:off x="920633" y="3540369"/>
            <a:ext cx="659101" cy="6741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59" name="Google Shape;185;p35"/>
          <p:cNvSpPr txBox="1"/>
          <p:nvPr/>
        </p:nvSpPr>
        <p:spPr>
          <a:xfrm>
            <a:off x="907165" y="1749105"/>
            <a:ext cx="717301" cy="45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900">
                <a:solidFill>
                  <a:srgbClr val="0B3550"/>
                </a:solidFill>
              </a:defRPr>
            </a:lvl1pPr>
          </a:lstStyle>
          <a:p>
            <a:pPr/>
            <a:r>
              <a:t>Chat</a:t>
            </a:r>
          </a:p>
        </p:txBody>
      </p:sp>
      <p:grpSp>
        <p:nvGrpSpPr>
          <p:cNvPr id="262" name="Google Shape;186;p35"/>
          <p:cNvGrpSpPr/>
          <p:nvPr/>
        </p:nvGrpSpPr>
        <p:grpSpPr>
          <a:xfrm>
            <a:off x="569883" y="2778326"/>
            <a:ext cx="1397101" cy="457201"/>
            <a:chOff x="0" y="0"/>
            <a:chExt cx="1397099" cy="45720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61" name="Data store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Data store</a:t>
              </a:r>
            </a:p>
          </p:txBody>
        </p:sp>
      </p:grpSp>
      <p:grpSp>
        <p:nvGrpSpPr>
          <p:cNvPr id="265" name="Google Shape;187;p35"/>
          <p:cNvGrpSpPr/>
          <p:nvPr/>
        </p:nvGrpSpPr>
        <p:grpSpPr>
          <a:xfrm>
            <a:off x="569883" y="3344576"/>
            <a:ext cx="1397101" cy="457201"/>
            <a:chOff x="0" y="0"/>
            <a:chExt cx="1397099" cy="457200"/>
          </a:xfrm>
        </p:grpSpPr>
        <p:sp>
          <p:nvSpPr>
            <p:cNvPr id="263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64" name="Model store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Model store</a:t>
              </a:r>
            </a:p>
          </p:txBody>
        </p:sp>
      </p:grpSp>
      <p:pic>
        <p:nvPicPr>
          <p:cNvPr id="266" name="Google Shape;189;p35" descr="Google Shape;189;p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16038" y="953925"/>
            <a:ext cx="1822952" cy="174125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Google Shape;190;p35"/>
          <p:cNvSpPr/>
          <p:nvPr/>
        </p:nvSpPr>
        <p:spPr>
          <a:xfrm>
            <a:off x="5006049" y="798099"/>
            <a:ext cx="2819401" cy="2592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310" y="0"/>
                </a:moveTo>
                <a:lnTo>
                  <a:pt x="21600" y="0"/>
                </a:lnTo>
                <a:lnTo>
                  <a:pt x="21600" y="18000"/>
                </a:lnTo>
                <a:cubicBezTo>
                  <a:pt x="21600" y="19988"/>
                  <a:pt x="20118" y="21600"/>
                  <a:pt x="18290" y="21600"/>
                </a:cubicBezTo>
                <a:lnTo>
                  <a:pt x="0" y="21600"/>
                </a:lnTo>
                <a:lnTo>
                  <a:pt x="0" y="3600"/>
                </a:lnTo>
                <a:cubicBezTo>
                  <a:pt x="0" y="1612"/>
                  <a:pt x="1482" y="0"/>
                  <a:pt x="331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9900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68" name="Google Shape;192;p35"/>
          <p:cNvSpPr txBox="1"/>
          <p:nvPr/>
        </p:nvSpPr>
        <p:spPr>
          <a:xfrm>
            <a:off x="5126649" y="2571750"/>
            <a:ext cx="2578201" cy="4789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2100">
                <a:solidFill>
                  <a:srgbClr val="0B3550"/>
                </a:solidFill>
              </a:defRPr>
            </a:lvl1pPr>
          </a:lstStyle>
          <a:p>
            <a:pPr/>
            <a:r>
              <a:t>AutoML Engine</a:t>
            </a:r>
          </a:p>
        </p:txBody>
      </p:sp>
      <p:sp>
        <p:nvSpPr>
          <p:cNvPr id="269" name="Google Shape;193;p35"/>
          <p:cNvSpPr/>
          <p:nvPr/>
        </p:nvSpPr>
        <p:spPr>
          <a:xfrm>
            <a:off x="1627864" y="1884675"/>
            <a:ext cx="698687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Google Shape;194;p35"/>
          <p:cNvSpPr/>
          <p:nvPr/>
        </p:nvSpPr>
        <p:spPr>
          <a:xfrm>
            <a:off x="4528487" y="1884675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1" name="Google Shape;195;p35"/>
          <p:cNvSpPr/>
          <p:nvPr/>
        </p:nvSpPr>
        <p:spPr>
          <a:xfrm>
            <a:off x="7970187" y="1877649"/>
            <a:ext cx="279301" cy="1"/>
          </a:xfrm>
          <a:prstGeom prst="line">
            <a:avLst/>
          </a:prstGeom>
          <a:ln w="19050">
            <a:solidFill>
              <a:srgbClr val="067D78"/>
            </a:solidFill>
            <a:headEnd type="stealth"/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72" name="Google Shape;196;p35" descr="Google Shape;196;p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82224" y="1442099"/>
            <a:ext cx="812701" cy="764895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Google Shape;197;p35"/>
          <p:cNvSpPr txBox="1"/>
          <p:nvPr/>
        </p:nvSpPr>
        <p:spPr>
          <a:xfrm>
            <a:off x="8282224" y="2294250"/>
            <a:ext cx="812701" cy="355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0B3550"/>
                </a:solidFill>
              </a:defRPr>
            </a:lvl1pPr>
          </a:lstStyle>
          <a:p>
            <a:pPr/>
            <a:r>
              <a:t>compute</a:t>
            </a:r>
          </a:p>
        </p:txBody>
      </p:sp>
      <p:sp>
        <p:nvSpPr>
          <p:cNvPr id="302" name="Google Shape;198;p35"/>
          <p:cNvSpPr/>
          <p:nvPr/>
        </p:nvSpPr>
        <p:spPr>
          <a:xfrm>
            <a:off x="1971646" y="2516856"/>
            <a:ext cx="3020117" cy="5004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6135" y="20397"/>
                  <a:pt x="13335" y="13197"/>
                  <a:pt x="21600" y="0"/>
                </a:cubicBezTo>
              </a:path>
            </a:pathLst>
          </a:custGeom>
          <a:ln w="28575">
            <a:solidFill>
              <a:srgbClr val="067D78"/>
            </a:solidFill>
            <a:tailEnd type="stealth"/>
          </a:ln>
        </p:spPr>
        <p:txBody>
          <a:bodyPr/>
          <a:lstStyle/>
          <a:p>
            <a:pPr/>
          </a:p>
        </p:txBody>
      </p:sp>
      <p:sp>
        <p:nvSpPr>
          <p:cNvPr id="275" name="Google Shape;199;p35"/>
          <p:cNvSpPr/>
          <p:nvPr/>
        </p:nvSpPr>
        <p:spPr>
          <a:xfrm flipH="1" rot="10800000">
            <a:off x="1983439" y="2094400"/>
            <a:ext cx="3022612" cy="1424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8511" y="0"/>
                  <a:pt x="17022" y="5400"/>
                  <a:pt x="17022" y="10800"/>
                </a:cubicBezTo>
                <a:cubicBezTo>
                  <a:pt x="17022" y="16200"/>
                  <a:pt x="19311" y="21600"/>
                  <a:pt x="21600" y="21600"/>
                </a:cubicBezTo>
              </a:path>
            </a:pathLst>
          </a:custGeom>
          <a:ln w="28575">
            <a:solidFill>
              <a:srgbClr val="067D78"/>
            </a:solidFill>
            <a:headEnd type="stealth"/>
            <a:tailEnd type="stealth"/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9" name="Google Shape;200;p35"/>
          <p:cNvGrpSpPr/>
          <p:nvPr/>
        </p:nvGrpSpPr>
        <p:grpSpPr>
          <a:xfrm>
            <a:off x="159102" y="1415725"/>
            <a:ext cx="279301" cy="279301"/>
            <a:chOff x="0" y="0"/>
            <a:chExt cx="279300" cy="279300"/>
          </a:xfrm>
        </p:grpSpPr>
        <p:sp>
          <p:nvSpPr>
            <p:cNvPr id="276" name="Circle"/>
            <p:cNvSpPr/>
            <p:nvPr/>
          </p:nvSpPr>
          <p:spPr>
            <a:xfrm>
              <a:off x="-1" y="-1"/>
              <a:ext cx="279302" cy="279302"/>
            </a:xfrm>
            <a:prstGeom prst="ellipse">
              <a:avLst/>
            </a:prstGeom>
            <a:solidFill>
              <a:srgbClr val="FFD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77" name="Shape"/>
            <p:cNvSpPr/>
            <p:nvPr/>
          </p:nvSpPr>
          <p:spPr>
            <a:xfrm>
              <a:off x="80362" y="83336"/>
              <a:ext cx="118575" cy="29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78" name="Shape"/>
            <p:cNvSpPr/>
            <p:nvPr/>
          </p:nvSpPr>
          <p:spPr>
            <a:xfrm>
              <a:off x="-1" y="-1"/>
              <a:ext cx="279302" cy="279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9525" cap="flat">
              <a:solidFill>
                <a:srgbClr val="BF9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280" name="Google Shape;201;p35"/>
          <p:cNvSpPr txBox="1"/>
          <p:nvPr/>
        </p:nvSpPr>
        <p:spPr>
          <a:xfrm>
            <a:off x="-565" y="1725240"/>
            <a:ext cx="717301" cy="458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Designer User</a:t>
            </a:r>
          </a:p>
        </p:txBody>
      </p:sp>
      <p:sp>
        <p:nvSpPr>
          <p:cNvPr id="303" name="Google Shape;202;p35"/>
          <p:cNvSpPr/>
          <p:nvPr/>
        </p:nvSpPr>
        <p:spPr>
          <a:xfrm>
            <a:off x="1266397" y="2206305"/>
            <a:ext cx="1444" cy="567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9050">
            <a:solidFill>
              <a:srgbClr val="067D78"/>
            </a:solidFill>
            <a:headEnd type="stealth"/>
            <a:tailEnd type="stealth"/>
          </a:ln>
        </p:spPr>
        <p:txBody>
          <a:bodyPr/>
          <a:lstStyle/>
          <a:p>
            <a:pPr/>
          </a:p>
        </p:txBody>
      </p:sp>
      <p:grpSp>
        <p:nvGrpSpPr>
          <p:cNvPr id="284" name="Google Shape;186;p35"/>
          <p:cNvGrpSpPr/>
          <p:nvPr/>
        </p:nvGrpSpPr>
        <p:grpSpPr>
          <a:xfrm>
            <a:off x="4119046" y="3852053"/>
            <a:ext cx="1397101" cy="457201"/>
            <a:chOff x="0" y="0"/>
            <a:chExt cx="1397099" cy="457200"/>
          </a:xfrm>
        </p:grpSpPr>
        <p:sp>
          <p:nvSpPr>
            <p:cNvPr id="282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3" name="Best model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Best model</a:t>
              </a:r>
            </a:p>
          </p:txBody>
        </p:sp>
      </p:grpSp>
      <p:grpSp>
        <p:nvGrpSpPr>
          <p:cNvPr id="287" name="Google Shape;186;p35"/>
          <p:cNvGrpSpPr/>
          <p:nvPr/>
        </p:nvGrpSpPr>
        <p:grpSpPr>
          <a:xfrm>
            <a:off x="5717199" y="3788937"/>
            <a:ext cx="1397101" cy="583434"/>
            <a:chOff x="0" y="-63116"/>
            <a:chExt cx="1397099" cy="583433"/>
          </a:xfrm>
        </p:grpSpPr>
        <p:sp>
          <p:nvSpPr>
            <p:cNvPr id="285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6" name="Processed files"/>
            <p:cNvSpPr txBox="1"/>
            <p:nvPr/>
          </p:nvSpPr>
          <p:spPr>
            <a:xfrm>
              <a:off x="4762" y="-63117"/>
              <a:ext cx="1387576" cy="583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Processed files</a:t>
              </a:r>
            </a:p>
          </p:txBody>
        </p:sp>
      </p:grpSp>
      <p:grpSp>
        <p:nvGrpSpPr>
          <p:cNvPr id="290" name="Google Shape;186;p35"/>
          <p:cNvGrpSpPr/>
          <p:nvPr/>
        </p:nvGrpSpPr>
        <p:grpSpPr>
          <a:xfrm>
            <a:off x="7315353" y="3843770"/>
            <a:ext cx="1397101" cy="457201"/>
            <a:chOff x="0" y="0"/>
            <a:chExt cx="1397099" cy="457200"/>
          </a:xfrm>
        </p:grpSpPr>
        <p:sp>
          <p:nvSpPr>
            <p:cNvPr id="288" name="Rectangle"/>
            <p:cNvSpPr/>
            <p:nvPr/>
          </p:nvSpPr>
          <p:spPr>
            <a:xfrm>
              <a:off x="0" y="0"/>
              <a:ext cx="1397100" cy="457200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289" name="What next?"/>
            <p:cNvSpPr txBox="1"/>
            <p:nvPr/>
          </p:nvSpPr>
          <p:spPr>
            <a:xfrm>
              <a:off x="4762" y="38483"/>
              <a:ext cx="1387576" cy="380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spAutoFit/>
            </a:bodyPr>
            <a:lstStyle>
              <a:lvl1pPr algn="ctr"/>
            </a:lstStyle>
            <a:p>
              <a:pPr/>
              <a:r>
                <a:t>What next?</a:t>
              </a:r>
            </a:p>
          </p:txBody>
        </p:sp>
      </p:grpSp>
      <p:sp>
        <p:nvSpPr>
          <p:cNvPr id="291" name="Google Shape;194;p35"/>
          <p:cNvSpPr/>
          <p:nvPr/>
        </p:nvSpPr>
        <p:spPr>
          <a:xfrm flipH="1">
            <a:off x="4902727" y="3508205"/>
            <a:ext cx="570250" cy="289962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2" name="Google Shape;194;p35"/>
          <p:cNvSpPr/>
          <p:nvPr/>
        </p:nvSpPr>
        <p:spPr>
          <a:xfrm>
            <a:off x="6415749" y="3468985"/>
            <a:ext cx="1" cy="355666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3" name="Google Shape;194;p35"/>
          <p:cNvSpPr/>
          <p:nvPr/>
        </p:nvSpPr>
        <p:spPr>
          <a:xfrm>
            <a:off x="7479247" y="3481388"/>
            <a:ext cx="569608" cy="343099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4" name="Google Shape;193;p35"/>
          <p:cNvSpPr/>
          <p:nvPr/>
        </p:nvSpPr>
        <p:spPr>
          <a:xfrm>
            <a:off x="667077" y="1884675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95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46456" y="1038293"/>
            <a:ext cx="1397101" cy="1572514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Connection Line"/>
          <p:cNvSpPr/>
          <p:nvPr/>
        </p:nvSpPr>
        <p:spPr>
          <a:xfrm>
            <a:off x="1426835" y="1131070"/>
            <a:ext cx="1089207" cy="48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80" fill="norm" stroke="1" extrusionOk="0">
                <a:moveTo>
                  <a:pt x="0" y="12047"/>
                </a:moveTo>
                <a:cubicBezTo>
                  <a:pt x="8475" y="-5320"/>
                  <a:pt x="15675" y="-3909"/>
                  <a:pt x="21600" y="16280"/>
                </a:cubicBezTo>
              </a:path>
            </a:pathLst>
          </a:custGeom>
          <a:ln w="25400">
            <a:solidFill>
              <a:srgbClr val="377B77"/>
            </a:solidFill>
            <a:headEnd type="triangle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97" name="Google Shape;201;p35"/>
          <p:cNvSpPr txBox="1"/>
          <p:nvPr/>
        </p:nvSpPr>
        <p:spPr>
          <a:xfrm>
            <a:off x="1355680" y="827940"/>
            <a:ext cx="1369557" cy="37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/>
          <a:lstStyle>
            <a:lvl1pPr>
              <a:defRPr b="1" sz="800">
                <a:solidFill>
                  <a:srgbClr val="0B3550"/>
                </a:solidFill>
              </a:defRPr>
            </a:lvl1pPr>
          </a:lstStyle>
          <a:p>
            <a:pPr/>
            <a:r>
              <a:t>I need more information</a:t>
            </a:r>
          </a:p>
        </p:txBody>
      </p:sp>
      <p:pic>
        <p:nvPicPr>
          <p:cNvPr id="298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83" y="4154008"/>
            <a:ext cx="576405" cy="555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2524" y="4147086"/>
            <a:ext cx="518353" cy="583434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Key"/>
          <p:cNvSpPr txBox="1"/>
          <p:nvPr/>
        </p:nvSpPr>
        <p:spPr>
          <a:xfrm>
            <a:off x="473391" y="3959196"/>
            <a:ext cx="31907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Key</a:t>
            </a:r>
          </a:p>
        </p:txBody>
      </p:sp>
      <p:sp>
        <p:nvSpPr>
          <p:cNvPr id="301" name="Rectangle"/>
          <p:cNvSpPr/>
          <p:nvPr/>
        </p:nvSpPr>
        <p:spPr>
          <a:xfrm>
            <a:off x="40718" y="3856470"/>
            <a:ext cx="1334591" cy="86765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AutoML Engine - Working Parts</a:t>
            </a:r>
          </a:p>
        </p:txBody>
      </p:sp>
      <p:sp>
        <p:nvSpPr>
          <p:cNvPr id="307" name="Google Shape;455;p46"/>
          <p:cNvSpPr txBox="1"/>
          <p:nvPr>
            <p:ph type="body" idx="1"/>
          </p:nvPr>
        </p:nvSpPr>
        <p:spPr>
          <a:xfrm>
            <a:off x="295550" y="795900"/>
            <a:ext cx="8726400" cy="309097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Input types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“Give me a model for X with Y data”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“Here is file/code X, I want it to do Y”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I/O</a:t>
            </a:r>
          </a:p>
        </p:txBody>
      </p:sp>
      <p:sp>
        <p:nvSpPr>
          <p:cNvPr id="310" name="Google Shape;455;p46"/>
          <p:cNvSpPr txBox="1"/>
          <p:nvPr>
            <p:ph type="body" sz="quarter" idx="1"/>
          </p:nvPr>
        </p:nvSpPr>
        <p:spPr>
          <a:xfrm>
            <a:off x="434961" y="851664"/>
            <a:ext cx="8726401" cy="304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1000"/>
              </a:lnSpc>
              <a:spcBef>
                <a:spcPts val="0"/>
              </a:spcBef>
              <a:buClrTx/>
              <a:buSzTx/>
              <a:buFontTx/>
              <a:buNone/>
              <a:defRPr sz="1700"/>
            </a:lvl1pPr>
          </a:lstStyle>
          <a:p>
            <a:pPr/>
            <a:r>
              <a:t>We want to make ALFIE usable to everyone</a:t>
            </a:r>
          </a:p>
        </p:txBody>
      </p:sp>
      <p:pic>
        <p:nvPicPr>
          <p:cNvPr id="311" name="Google Shape;183;p35" descr="Google Shape;183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43236" y="2085882"/>
            <a:ext cx="576405" cy="555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Google Shape;185;p35"/>
          <p:cNvSpPr txBox="1"/>
          <p:nvPr/>
        </p:nvSpPr>
        <p:spPr>
          <a:xfrm>
            <a:off x="5372788" y="2603261"/>
            <a:ext cx="717301" cy="45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900">
                <a:solidFill>
                  <a:srgbClr val="0B3550"/>
                </a:solidFill>
              </a:defRPr>
            </a:lvl1pPr>
          </a:lstStyle>
          <a:p>
            <a:pPr/>
            <a:r>
              <a:t>Chat</a:t>
            </a:r>
          </a:p>
        </p:txBody>
      </p:sp>
      <p:grpSp>
        <p:nvGrpSpPr>
          <p:cNvPr id="316" name="Google Shape;200;p35"/>
          <p:cNvGrpSpPr/>
          <p:nvPr/>
        </p:nvGrpSpPr>
        <p:grpSpPr>
          <a:xfrm>
            <a:off x="396100" y="2080463"/>
            <a:ext cx="279301" cy="279301"/>
            <a:chOff x="0" y="0"/>
            <a:chExt cx="279300" cy="279300"/>
          </a:xfrm>
        </p:grpSpPr>
        <p:sp>
          <p:nvSpPr>
            <p:cNvPr id="313" name="Circle"/>
            <p:cNvSpPr/>
            <p:nvPr/>
          </p:nvSpPr>
          <p:spPr>
            <a:xfrm>
              <a:off x="-1" y="-1"/>
              <a:ext cx="279302" cy="279302"/>
            </a:xfrm>
            <a:prstGeom prst="ellipse">
              <a:avLst/>
            </a:prstGeom>
            <a:solidFill>
              <a:srgbClr val="FFD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14" name="Shape"/>
            <p:cNvSpPr/>
            <p:nvPr/>
          </p:nvSpPr>
          <p:spPr>
            <a:xfrm>
              <a:off x="80362" y="83336"/>
              <a:ext cx="118575" cy="29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15" name="Shape"/>
            <p:cNvSpPr/>
            <p:nvPr/>
          </p:nvSpPr>
          <p:spPr>
            <a:xfrm>
              <a:off x="-1" y="-1"/>
              <a:ext cx="279302" cy="279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9525" cap="flat">
              <a:solidFill>
                <a:srgbClr val="BF9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</p:grpSp>
      <p:sp>
        <p:nvSpPr>
          <p:cNvPr id="317" name="Google Shape;201;p35"/>
          <p:cNvSpPr txBox="1"/>
          <p:nvPr/>
        </p:nvSpPr>
        <p:spPr>
          <a:xfrm>
            <a:off x="236434" y="2389978"/>
            <a:ext cx="717301" cy="458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000">
                <a:solidFill>
                  <a:srgbClr val="0B3550"/>
                </a:solidFill>
              </a:defRPr>
            </a:lvl1pPr>
          </a:lstStyle>
          <a:p>
            <a:pPr/>
            <a:r>
              <a:t>Designer User</a:t>
            </a:r>
          </a:p>
        </p:txBody>
      </p:sp>
      <p:sp>
        <p:nvSpPr>
          <p:cNvPr id="318" name="Google Shape;193;p35"/>
          <p:cNvSpPr/>
          <p:nvPr/>
        </p:nvSpPr>
        <p:spPr>
          <a:xfrm>
            <a:off x="869223" y="2549413"/>
            <a:ext cx="40581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1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35210" y="1326195"/>
            <a:ext cx="331513" cy="64512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2" name="Google Shape;186;p35"/>
          <p:cNvGrpSpPr/>
          <p:nvPr/>
        </p:nvGrpSpPr>
        <p:grpSpPr>
          <a:xfrm>
            <a:off x="1362697" y="2276966"/>
            <a:ext cx="1329014" cy="555001"/>
            <a:chOff x="0" y="-60040"/>
            <a:chExt cx="1329013" cy="554999"/>
          </a:xfrm>
        </p:grpSpPr>
        <p:sp>
          <p:nvSpPr>
            <p:cNvPr id="320" name="Rectangle"/>
            <p:cNvSpPr/>
            <p:nvPr/>
          </p:nvSpPr>
          <p:spPr>
            <a:xfrm>
              <a:off x="0" y="0"/>
              <a:ext cx="1329014" cy="434919"/>
            </a:xfrm>
            <a:prstGeom prst="rect">
              <a:avLst/>
            </a:prstGeom>
            <a:solidFill>
              <a:srgbClr val="75A089"/>
            </a:solidFill>
            <a:ln w="9525" cap="flat">
              <a:solidFill>
                <a:srgbClr val="067D78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21" name="Chosen Language"/>
            <p:cNvSpPr txBox="1"/>
            <p:nvPr/>
          </p:nvSpPr>
          <p:spPr>
            <a:xfrm>
              <a:off x="4530" y="-60041"/>
              <a:ext cx="1319953" cy="555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ctr">
              <a:noAutofit/>
            </a:bodyPr>
            <a:lstStyle>
              <a:lvl1pPr algn="ctr">
                <a:defRPr sz="1100"/>
              </a:lvl1pPr>
            </a:lstStyle>
            <a:p>
              <a:pPr/>
              <a:r>
                <a:t>Chosen Language</a:t>
              </a:r>
            </a:p>
          </p:txBody>
        </p:sp>
      </p:grpSp>
      <p:pic>
        <p:nvPicPr>
          <p:cNvPr id="323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0" t="0" r="0" b="47914"/>
          <a:stretch>
            <a:fillRect/>
          </a:stretch>
        </p:blipFill>
        <p:spPr>
          <a:xfrm>
            <a:off x="2930472" y="2295326"/>
            <a:ext cx="1741195" cy="552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uploadfiles.png" descr="uploadfile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146338" y="3430513"/>
            <a:ext cx="1574440" cy="917112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Google Shape;193;p35"/>
          <p:cNvSpPr/>
          <p:nvPr/>
        </p:nvSpPr>
        <p:spPr>
          <a:xfrm>
            <a:off x="2779374" y="2598679"/>
            <a:ext cx="279301" cy="1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6" name="Google Shape;193;p35"/>
          <p:cNvSpPr/>
          <p:nvPr/>
        </p:nvSpPr>
        <p:spPr>
          <a:xfrm>
            <a:off x="2779374" y="2700916"/>
            <a:ext cx="271571" cy="1058022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7" name="Google Shape;193;p35"/>
          <p:cNvSpPr/>
          <p:nvPr/>
        </p:nvSpPr>
        <p:spPr>
          <a:xfrm flipV="1">
            <a:off x="2778897" y="1713044"/>
            <a:ext cx="707198" cy="707199"/>
          </a:xfrm>
          <a:prstGeom prst="line">
            <a:avLst/>
          </a:prstGeom>
          <a:ln w="28575">
            <a:solidFill>
              <a:srgbClr val="067D78"/>
            </a:solidFill>
            <a:tail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8" name="Google Shape;193;p35"/>
          <p:cNvSpPr/>
          <p:nvPr/>
        </p:nvSpPr>
        <p:spPr>
          <a:xfrm flipH="1">
            <a:off x="4414940" y="2627050"/>
            <a:ext cx="766442" cy="1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9" name="Google Shape;193;p35"/>
          <p:cNvSpPr/>
          <p:nvPr/>
        </p:nvSpPr>
        <p:spPr>
          <a:xfrm flipH="1">
            <a:off x="4783681" y="2704147"/>
            <a:ext cx="383168" cy="1042894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30" name="Image" descr="Image"/>
          <p:cNvPicPr>
            <a:picLocks noChangeAspect="1"/>
          </p:cNvPicPr>
          <p:nvPr/>
        </p:nvPicPr>
        <p:blipFill>
          <a:blip r:embed="rId6">
            <a:extLst/>
          </a:blip>
          <a:srcRect l="35655" t="27131" r="35653" b="27324"/>
          <a:stretch>
            <a:fillRect/>
          </a:stretch>
        </p:blipFill>
        <p:spPr>
          <a:xfrm>
            <a:off x="7079003" y="1566852"/>
            <a:ext cx="576224" cy="548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8" h="21558" fill="norm" stroke="1" extrusionOk="0">
                <a:moveTo>
                  <a:pt x="15998" y="0"/>
                </a:moveTo>
                <a:cubicBezTo>
                  <a:pt x="15632" y="0"/>
                  <a:pt x="14974" y="419"/>
                  <a:pt x="14974" y="655"/>
                </a:cubicBezTo>
                <a:cubicBezTo>
                  <a:pt x="14974" y="757"/>
                  <a:pt x="14627" y="1278"/>
                  <a:pt x="14558" y="1278"/>
                </a:cubicBezTo>
                <a:cubicBezTo>
                  <a:pt x="14531" y="1278"/>
                  <a:pt x="14514" y="1336"/>
                  <a:pt x="14514" y="1403"/>
                </a:cubicBezTo>
                <a:cubicBezTo>
                  <a:pt x="14514" y="1470"/>
                  <a:pt x="14486" y="1527"/>
                  <a:pt x="14454" y="1527"/>
                </a:cubicBezTo>
                <a:cubicBezTo>
                  <a:pt x="14422" y="1527"/>
                  <a:pt x="14395" y="1571"/>
                  <a:pt x="14395" y="1621"/>
                </a:cubicBezTo>
                <a:cubicBezTo>
                  <a:pt x="14395" y="1671"/>
                  <a:pt x="14367" y="1715"/>
                  <a:pt x="14335" y="1715"/>
                </a:cubicBezTo>
                <a:cubicBezTo>
                  <a:pt x="14302" y="1715"/>
                  <a:pt x="14276" y="1911"/>
                  <a:pt x="14276" y="2182"/>
                </a:cubicBezTo>
                <a:cubicBezTo>
                  <a:pt x="14276" y="2621"/>
                  <a:pt x="14279" y="2656"/>
                  <a:pt x="14439" y="2806"/>
                </a:cubicBezTo>
                <a:cubicBezTo>
                  <a:pt x="14667" y="3019"/>
                  <a:pt x="14739" y="3069"/>
                  <a:pt x="14914" y="3164"/>
                </a:cubicBezTo>
                <a:cubicBezTo>
                  <a:pt x="15109" y="3269"/>
                  <a:pt x="15943" y="4112"/>
                  <a:pt x="16162" y="4427"/>
                </a:cubicBezTo>
                <a:cubicBezTo>
                  <a:pt x="16255" y="4561"/>
                  <a:pt x="16352" y="4690"/>
                  <a:pt x="16370" y="4707"/>
                </a:cubicBezTo>
                <a:cubicBezTo>
                  <a:pt x="16444" y="4776"/>
                  <a:pt x="16726" y="5255"/>
                  <a:pt x="16726" y="5315"/>
                </a:cubicBezTo>
                <a:cubicBezTo>
                  <a:pt x="16726" y="5350"/>
                  <a:pt x="16752" y="5405"/>
                  <a:pt x="16800" y="5424"/>
                </a:cubicBezTo>
                <a:cubicBezTo>
                  <a:pt x="16850" y="5444"/>
                  <a:pt x="16889" y="5526"/>
                  <a:pt x="16889" y="5627"/>
                </a:cubicBezTo>
                <a:cubicBezTo>
                  <a:pt x="16889" y="5724"/>
                  <a:pt x="16910" y="5814"/>
                  <a:pt x="16934" y="5814"/>
                </a:cubicBezTo>
                <a:cubicBezTo>
                  <a:pt x="16990" y="5814"/>
                  <a:pt x="17186" y="6164"/>
                  <a:pt x="17186" y="6266"/>
                </a:cubicBezTo>
                <a:cubicBezTo>
                  <a:pt x="17186" y="6309"/>
                  <a:pt x="17255" y="6466"/>
                  <a:pt x="17335" y="6624"/>
                </a:cubicBezTo>
                <a:cubicBezTo>
                  <a:pt x="17415" y="6782"/>
                  <a:pt x="17483" y="6993"/>
                  <a:pt x="17483" y="7092"/>
                </a:cubicBezTo>
                <a:cubicBezTo>
                  <a:pt x="17483" y="7191"/>
                  <a:pt x="17496" y="7279"/>
                  <a:pt x="17528" y="7279"/>
                </a:cubicBezTo>
                <a:cubicBezTo>
                  <a:pt x="17560" y="7279"/>
                  <a:pt x="17587" y="7382"/>
                  <a:pt x="17587" y="7513"/>
                </a:cubicBezTo>
                <a:cubicBezTo>
                  <a:pt x="17587" y="7649"/>
                  <a:pt x="17626" y="7781"/>
                  <a:pt x="17676" y="7824"/>
                </a:cubicBezTo>
                <a:cubicBezTo>
                  <a:pt x="17728" y="7870"/>
                  <a:pt x="17765" y="8015"/>
                  <a:pt x="17765" y="8167"/>
                </a:cubicBezTo>
                <a:cubicBezTo>
                  <a:pt x="17765" y="8308"/>
                  <a:pt x="17800" y="8453"/>
                  <a:pt x="17840" y="8495"/>
                </a:cubicBezTo>
                <a:cubicBezTo>
                  <a:pt x="17947" y="8607"/>
                  <a:pt x="18018" y="9469"/>
                  <a:pt x="18018" y="10817"/>
                </a:cubicBezTo>
                <a:cubicBezTo>
                  <a:pt x="18018" y="12165"/>
                  <a:pt x="17947" y="13043"/>
                  <a:pt x="17840" y="13155"/>
                </a:cubicBezTo>
                <a:cubicBezTo>
                  <a:pt x="17800" y="13197"/>
                  <a:pt x="17765" y="13342"/>
                  <a:pt x="17765" y="13482"/>
                </a:cubicBezTo>
                <a:cubicBezTo>
                  <a:pt x="17765" y="13635"/>
                  <a:pt x="17728" y="13780"/>
                  <a:pt x="17676" y="13825"/>
                </a:cubicBezTo>
                <a:cubicBezTo>
                  <a:pt x="17626" y="13869"/>
                  <a:pt x="17587" y="14001"/>
                  <a:pt x="17587" y="14137"/>
                </a:cubicBezTo>
                <a:cubicBezTo>
                  <a:pt x="17587" y="14267"/>
                  <a:pt x="17560" y="14371"/>
                  <a:pt x="17528" y="14371"/>
                </a:cubicBezTo>
                <a:cubicBezTo>
                  <a:pt x="17496" y="14371"/>
                  <a:pt x="17483" y="14459"/>
                  <a:pt x="17483" y="14558"/>
                </a:cubicBezTo>
                <a:cubicBezTo>
                  <a:pt x="17483" y="14657"/>
                  <a:pt x="17415" y="14867"/>
                  <a:pt x="17335" y="15025"/>
                </a:cubicBezTo>
                <a:cubicBezTo>
                  <a:pt x="17255" y="15184"/>
                  <a:pt x="17186" y="15341"/>
                  <a:pt x="17186" y="15384"/>
                </a:cubicBezTo>
                <a:cubicBezTo>
                  <a:pt x="17186" y="15486"/>
                  <a:pt x="16990" y="15836"/>
                  <a:pt x="16934" y="15836"/>
                </a:cubicBezTo>
                <a:cubicBezTo>
                  <a:pt x="16910" y="15836"/>
                  <a:pt x="16889" y="15926"/>
                  <a:pt x="16889" y="16023"/>
                </a:cubicBezTo>
                <a:cubicBezTo>
                  <a:pt x="16889" y="16124"/>
                  <a:pt x="16850" y="16206"/>
                  <a:pt x="16800" y="16226"/>
                </a:cubicBezTo>
                <a:cubicBezTo>
                  <a:pt x="16752" y="16245"/>
                  <a:pt x="16726" y="16299"/>
                  <a:pt x="16726" y="16335"/>
                </a:cubicBezTo>
                <a:cubicBezTo>
                  <a:pt x="16726" y="16394"/>
                  <a:pt x="16444" y="16873"/>
                  <a:pt x="16370" y="16943"/>
                </a:cubicBezTo>
                <a:cubicBezTo>
                  <a:pt x="16352" y="16959"/>
                  <a:pt x="16256" y="17075"/>
                  <a:pt x="16162" y="17208"/>
                </a:cubicBezTo>
                <a:cubicBezTo>
                  <a:pt x="16067" y="17340"/>
                  <a:pt x="15926" y="17527"/>
                  <a:pt x="15850" y="17613"/>
                </a:cubicBezTo>
                <a:cubicBezTo>
                  <a:pt x="15774" y="17699"/>
                  <a:pt x="15675" y="17833"/>
                  <a:pt x="15627" y="17909"/>
                </a:cubicBezTo>
                <a:cubicBezTo>
                  <a:pt x="15579" y="17985"/>
                  <a:pt x="15518" y="18034"/>
                  <a:pt x="15494" y="18034"/>
                </a:cubicBezTo>
                <a:cubicBezTo>
                  <a:pt x="15469" y="18034"/>
                  <a:pt x="15380" y="18113"/>
                  <a:pt x="15286" y="18205"/>
                </a:cubicBezTo>
                <a:cubicBezTo>
                  <a:pt x="15191" y="18298"/>
                  <a:pt x="15037" y="18420"/>
                  <a:pt x="14944" y="18470"/>
                </a:cubicBezTo>
                <a:cubicBezTo>
                  <a:pt x="14748" y="18577"/>
                  <a:pt x="14671" y="18627"/>
                  <a:pt x="14439" y="18844"/>
                </a:cubicBezTo>
                <a:cubicBezTo>
                  <a:pt x="14290" y="18984"/>
                  <a:pt x="14276" y="19050"/>
                  <a:pt x="14276" y="19343"/>
                </a:cubicBezTo>
                <a:cubicBezTo>
                  <a:pt x="14276" y="19708"/>
                  <a:pt x="14438" y="20117"/>
                  <a:pt x="14707" y="20434"/>
                </a:cubicBezTo>
                <a:cubicBezTo>
                  <a:pt x="14790" y="20532"/>
                  <a:pt x="14855" y="20648"/>
                  <a:pt x="14855" y="20699"/>
                </a:cubicBezTo>
                <a:cubicBezTo>
                  <a:pt x="14855" y="20750"/>
                  <a:pt x="14882" y="20793"/>
                  <a:pt x="14914" y="20793"/>
                </a:cubicBezTo>
                <a:cubicBezTo>
                  <a:pt x="14946" y="20793"/>
                  <a:pt x="14974" y="20850"/>
                  <a:pt x="14974" y="20917"/>
                </a:cubicBezTo>
                <a:cubicBezTo>
                  <a:pt x="14974" y="20985"/>
                  <a:pt x="15000" y="21042"/>
                  <a:pt x="15033" y="21042"/>
                </a:cubicBezTo>
                <a:cubicBezTo>
                  <a:pt x="15066" y="21042"/>
                  <a:pt x="15116" y="21092"/>
                  <a:pt x="15137" y="21151"/>
                </a:cubicBezTo>
                <a:cubicBezTo>
                  <a:pt x="15178" y="21263"/>
                  <a:pt x="15399" y="21469"/>
                  <a:pt x="15538" y="21525"/>
                </a:cubicBezTo>
                <a:cubicBezTo>
                  <a:pt x="15722" y="21600"/>
                  <a:pt x="16468" y="21539"/>
                  <a:pt x="16667" y="21432"/>
                </a:cubicBezTo>
                <a:cubicBezTo>
                  <a:pt x="16778" y="21372"/>
                  <a:pt x="16873" y="21312"/>
                  <a:pt x="16889" y="21291"/>
                </a:cubicBezTo>
                <a:cubicBezTo>
                  <a:pt x="16905" y="21270"/>
                  <a:pt x="17012" y="21198"/>
                  <a:pt x="17127" y="21135"/>
                </a:cubicBezTo>
                <a:cubicBezTo>
                  <a:pt x="17241" y="21072"/>
                  <a:pt x="17501" y="20879"/>
                  <a:pt x="17691" y="20699"/>
                </a:cubicBezTo>
                <a:cubicBezTo>
                  <a:pt x="17881" y="20519"/>
                  <a:pt x="18055" y="20372"/>
                  <a:pt x="18077" y="20372"/>
                </a:cubicBezTo>
                <a:cubicBezTo>
                  <a:pt x="18099" y="20371"/>
                  <a:pt x="18157" y="20281"/>
                  <a:pt x="18211" y="20185"/>
                </a:cubicBezTo>
                <a:cubicBezTo>
                  <a:pt x="18265" y="20088"/>
                  <a:pt x="18386" y="19961"/>
                  <a:pt x="18478" y="19904"/>
                </a:cubicBezTo>
                <a:cubicBezTo>
                  <a:pt x="18570" y="19847"/>
                  <a:pt x="18641" y="19781"/>
                  <a:pt x="18641" y="19748"/>
                </a:cubicBezTo>
                <a:cubicBezTo>
                  <a:pt x="18641" y="19715"/>
                  <a:pt x="18744" y="19572"/>
                  <a:pt x="18864" y="19437"/>
                </a:cubicBezTo>
                <a:cubicBezTo>
                  <a:pt x="18984" y="19301"/>
                  <a:pt x="19117" y="19119"/>
                  <a:pt x="19161" y="19031"/>
                </a:cubicBezTo>
                <a:cubicBezTo>
                  <a:pt x="19205" y="18944"/>
                  <a:pt x="19308" y="18806"/>
                  <a:pt x="19384" y="18720"/>
                </a:cubicBezTo>
                <a:cubicBezTo>
                  <a:pt x="19460" y="18633"/>
                  <a:pt x="19517" y="18517"/>
                  <a:pt x="19517" y="18470"/>
                </a:cubicBezTo>
                <a:cubicBezTo>
                  <a:pt x="19517" y="18423"/>
                  <a:pt x="19565" y="18354"/>
                  <a:pt x="19621" y="18299"/>
                </a:cubicBezTo>
                <a:cubicBezTo>
                  <a:pt x="19715" y="18207"/>
                  <a:pt x="19915" y="17841"/>
                  <a:pt x="20067" y="17504"/>
                </a:cubicBezTo>
                <a:cubicBezTo>
                  <a:pt x="20101" y="17428"/>
                  <a:pt x="20147" y="17364"/>
                  <a:pt x="20171" y="17363"/>
                </a:cubicBezTo>
                <a:cubicBezTo>
                  <a:pt x="20195" y="17363"/>
                  <a:pt x="20215" y="17289"/>
                  <a:pt x="20215" y="17192"/>
                </a:cubicBezTo>
                <a:cubicBezTo>
                  <a:pt x="20215" y="17091"/>
                  <a:pt x="20255" y="16994"/>
                  <a:pt x="20304" y="16974"/>
                </a:cubicBezTo>
                <a:cubicBezTo>
                  <a:pt x="20352" y="16954"/>
                  <a:pt x="20394" y="16886"/>
                  <a:pt x="20394" y="16818"/>
                </a:cubicBezTo>
                <a:cubicBezTo>
                  <a:pt x="20394" y="16750"/>
                  <a:pt x="20421" y="16693"/>
                  <a:pt x="20453" y="16693"/>
                </a:cubicBezTo>
                <a:cubicBezTo>
                  <a:pt x="20485" y="16693"/>
                  <a:pt x="20512" y="16593"/>
                  <a:pt x="20512" y="16475"/>
                </a:cubicBezTo>
                <a:cubicBezTo>
                  <a:pt x="20512" y="16357"/>
                  <a:pt x="20527" y="16272"/>
                  <a:pt x="20557" y="16272"/>
                </a:cubicBezTo>
                <a:cubicBezTo>
                  <a:pt x="20586" y="16272"/>
                  <a:pt x="20625" y="16184"/>
                  <a:pt x="20646" y="16085"/>
                </a:cubicBezTo>
                <a:cubicBezTo>
                  <a:pt x="20667" y="15987"/>
                  <a:pt x="20719" y="15876"/>
                  <a:pt x="20765" y="15836"/>
                </a:cubicBezTo>
                <a:cubicBezTo>
                  <a:pt x="20811" y="15796"/>
                  <a:pt x="20854" y="15681"/>
                  <a:pt x="20854" y="15587"/>
                </a:cubicBezTo>
                <a:cubicBezTo>
                  <a:pt x="20854" y="15492"/>
                  <a:pt x="20881" y="15405"/>
                  <a:pt x="20913" y="15384"/>
                </a:cubicBezTo>
                <a:cubicBezTo>
                  <a:pt x="20945" y="15363"/>
                  <a:pt x="20973" y="15236"/>
                  <a:pt x="20973" y="15103"/>
                </a:cubicBezTo>
                <a:cubicBezTo>
                  <a:pt x="20973" y="14971"/>
                  <a:pt x="21000" y="14854"/>
                  <a:pt x="21032" y="14854"/>
                </a:cubicBezTo>
                <a:cubicBezTo>
                  <a:pt x="21064" y="14854"/>
                  <a:pt x="21091" y="14751"/>
                  <a:pt x="21091" y="14620"/>
                </a:cubicBezTo>
                <a:cubicBezTo>
                  <a:pt x="21091" y="14484"/>
                  <a:pt x="21130" y="14352"/>
                  <a:pt x="21180" y="14309"/>
                </a:cubicBezTo>
                <a:cubicBezTo>
                  <a:pt x="21242" y="14254"/>
                  <a:pt x="21270" y="14106"/>
                  <a:pt x="21270" y="13810"/>
                </a:cubicBezTo>
                <a:cubicBezTo>
                  <a:pt x="21270" y="13580"/>
                  <a:pt x="21282" y="13379"/>
                  <a:pt x="21314" y="13358"/>
                </a:cubicBezTo>
                <a:cubicBezTo>
                  <a:pt x="21346" y="13337"/>
                  <a:pt x="21373" y="13164"/>
                  <a:pt x="21373" y="12968"/>
                </a:cubicBezTo>
                <a:cubicBezTo>
                  <a:pt x="21373" y="12771"/>
                  <a:pt x="21414" y="12535"/>
                  <a:pt x="21463" y="12438"/>
                </a:cubicBezTo>
                <a:cubicBezTo>
                  <a:pt x="21590" y="12182"/>
                  <a:pt x="21590" y="9468"/>
                  <a:pt x="21463" y="9212"/>
                </a:cubicBezTo>
                <a:cubicBezTo>
                  <a:pt x="21414" y="9115"/>
                  <a:pt x="21373" y="8879"/>
                  <a:pt x="21373" y="8682"/>
                </a:cubicBezTo>
                <a:cubicBezTo>
                  <a:pt x="21373" y="8486"/>
                  <a:pt x="21346" y="8313"/>
                  <a:pt x="21314" y="8292"/>
                </a:cubicBezTo>
                <a:cubicBezTo>
                  <a:pt x="21282" y="8271"/>
                  <a:pt x="21270" y="8054"/>
                  <a:pt x="21270" y="7824"/>
                </a:cubicBezTo>
                <a:cubicBezTo>
                  <a:pt x="21270" y="7528"/>
                  <a:pt x="21242" y="7395"/>
                  <a:pt x="21180" y="7341"/>
                </a:cubicBezTo>
                <a:cubicBezTo>
                  <a:pt x="21130" y="7298"/>
                  <a:pt x="21091" y="7166"/>
                  <a:pt x="21091" y="7030"/>
                </a:cubicBezTo>
                <a:cubicBezTo>
                  <a:pt x="21091" y="6899"/>
                  <a:pt x="21061" y="6796"/>
                  <a:pt x="21032" y="6796"/>
                </a:cubicBezTo>
                <a:cubicBezTo>
                  <a:pt x="21003" y="6796"/>
                  <a:pt x="20975" y="6688"/>
                  <a:pt x="20958" y="6562"/>
                </a:cubicBezTo>
                <a:cubicBezTo>
                  <a:pt x="20892" y="6094"/>
                  <a:pt x="20838" y="5903"/>
                  <a:pt x="20765" y="5814"/>
                </a:cubicBezTo>
                <a:cubicBezTo>
                  <a:pt x="20723" y="5763"/>
                  <a:pt x="20668" y="5641"/>
                  <a:pt x="20646" y="5549"/>
                </a:cubicBezTo>
                <a:cubicBezTo>
                  <a:pt x="20624" y="5456"/>
                  <a:pt x="20585" y="5377"/>
                  <a:pt x="20557" y="5377"/>
                </a:cubicBezTo>
                <a:cubicBezTo>
                  <a:pt x="20528" y="5377"/>
                  <a:pt x="20512" y="5319"/>
                  <a:pt x="20512" y="5237"/>
                </a:cubicBezTo>
                <a:cubicBezTo>
                  <a:pt x="20512" y="5155"/>
                  <a:pt x="20485" y="5071"/>
                  <a:pt x="20453" y="5050"/>
                </a:cubicBezTo>
                <a:cubicBezTo>
                  <a:pt x="20421" y="5029"/>
                  <a:pt x="20394" y="4946"/>
                  <a:pt x="20394" y="4863"/>
                </a:cubicBezTo>
                <a:cubicBezTo>
                  <a:pt x="20394" y="4780"/>
                  <a:pt x="20352" y="4695"/>
                  <a:pt x="20304" y="4676"/>
                </a:cubicBezTo>
                <a:cubicBezTo>
                  <a:pt x="20256" y="4657"/>
                  <a:pt x="20215" y="4599"/>
                  <a:pt x="20215" y="4551"/>
                </a:cubicBezTo>
                <a:cubicBezTo>
                  <a:pt x="20215" y="4504"/>
                  <a:pt x="20184" y="4423"/>
                  <a:pt x="20156" y="4364"/>
                </a:cubicBezTo>
                <a:cubicBezTo>
                  <a:pt x="20127" y="4306"/>
                  <a:pt x="20067" y="4148"/>
                  <a:pt x="20007" y="4021"/>
                </a:cubicBezTo>
                <a:cubicBezTo>
                  <a:pt x="19948" y="3895"/>
                  <a:pt x="19849" y="3724"/>
                  <a:pt x="19785" y="3647"/>
                </a:cubicBezTo>
                <a:cubicBezTo>
                  <a:pt x="19634" y="3468"/>
                  <a:pt x="19517" y="3262"/>
                  <a:pt x="19517" y="3164"/>
                </a:cubicBezTo>
                <a:cubicBezTo>
                  <a:pt x="19517" y="3122"/>
                  <a:pt x="19408" y="2968"/>
                  <a:pt x="19280" y="2821"/>
                </a:cubicBezTo>
                <a:cubicBezTo>
                  <a:pt x="19152" y="2674"/>
                  <a:pt x="19042" y="2516"/>
                  <a:pt x="19042" y="2478"/>
                </a:cubicBezTo>
                <a:cubicBezTo>
                  <a:pt x="19042" y="2440"/>
                  <a:pt x="18872" y="2208"/>
                  <a:pt x="18656" y="1964"/>
                </a:cubicBezTo>
                <a:cubicBezTo>
                  <a:pt x="18440" y="1719"/>
                  <a:pt x="18217" y="1462"/>
                  <a:pt x="18151" y="1387"/>
                </a:cubicBezTo>
                <a:cubicBezTo>
                  <a:pt x="18086" y="1312"/>
                  <a:pt x="17931" y="1176"/>
                  <a:pt x="17810" y="1075"/>
                </a:cubicBezTo>
                <a:cubicBezTo>
                  <a:pt x="17688" y="975"/>
                  <a:pt x="17515" y="821"/>
                  <a:pt x="17439" y="748"/>
                </a:cubicBezTo>
                <a:cubicBezTo>
                  <a:pt x="17362" y="675"/>
                  <a:pt x="17216" y="576"/>
                  <a:pt x="17112" y="514"/>
                </a:cubicBezTo>
                <a:cubicBezTo>
                  <a:pt x="17008" y="453"/>
                  <a:pt x="16885" y="367"/>
                  <a:pt x="16845" y="327"/>
                </a:cubicBezTo>
                <a:cubicBezTo>
                  <a:pt x="16741" y="226"/>
                  <a:pt x="16161" y="0"/>
                  <a:pt x="15998" y="0"/>
                </a:cubicBezTo>
                <a:close/>
                <a:moveTo>
                  <a:pt x="9717" y="3180"/>
                </a:moveTo>
                <a:cubicBezTo>
                  <a:pt x="9478" y="3180"/>
                  <a:pt x="9040" y="3386"/>
                  <a:pt x="8990" y="3523"/>
                </a:cubicBezTo>
                <a:cubicBezTo>
                  <a:pt x="8973" y="3568"/>
                  <a:pt x="8932" y="3601"/>
                  <a:pt x="8901" y="3601"/>
                </a:cubicBezTo>
                <a:cubicBezTo>
                  <a:pt x="8836" y="3601"/>
                  <a:pt x="8500" y="3872"/>
                  <a:pt x="8247" y="4115"/>
                </a:cubicBezTo>
                <a:cubicBezTo>
                  <a:pt x="8151" y="4207"/>
                  <a:pt x="8035" y="4286"/>
                  <a:pt x="7995" y="4286"/>
                </a:cubicBezTo>
                <a:cubicBezTo>
                  <a:pt x="7955" y="4286"/>
                  <a:pt x="7921" y="4317"/>
                  <a:pt x="7921" y="4364"/>
                </a:cubicBezTo>
                <a:cubicBezTo>
                  <a:pt x="7921" y="4411"/>
                  <a:pt x="7892" y="4471"/>
                  <a:pt x="7847" y="4489"/>
                </a:cubicBezTo>
                <a:cubicBezTo>
                  <a:pt x="7716" y="4542"/>
                  <a:pt x="7045" y="5087"/>
                  <a:pt x="7045" y="5144"/>
                </a:cubicBezTo>
                <a:cubicBezTo>
                  <a:pt x="7045" y="5172"/>
                  <a:pt x="7020" y="5206"/>
                  <a:pt x="6985" y="5206"/>
                </a:cubicBezTo>
                <a:cubicBezTo>
                  <a:pt x="6910" y="5206"/>
                  <a:pt x="6516" y="5504"/>
                  <a:pt x="6451" y="5611"/>
                </a:cubicBezTo>
                <a:cubicBezTo>
                  <a:pt x="6425" y="5653"/>
                  <a:pt x="6371" y="5689"/>
                  <a:pt x="6332" y="5689"/>
                </a:cubicBezTo>
                <a:cubicBezTo>
                  <a:pt x="6293" y="5689"/>
                  <a:pt x="6164" y="5797"/>
                  <a:pt x="6035" y="5923"/>
                </a:cubicBezTo>
                <a:cubicBezTo>
                  <a:pt x="5906" y="6049"/>
                  <a:pt x="5712" y="6213"/>
                  <a:pt x="5604" y="6297"/>
                </a:cubicBezTo>
                <a:cubicBezTo>
                  <a:pt x="5497" y="6381"/>
                  <a:pt x="5318" y="6532"/>
                  <a:pt x="5218" y="6624"/>
                </a:cubicBezTo>
                <a:cubicBezTo>
                  <a:pt x="5119" y="6716"/>
                  <a:pt x="5021" y="6780"/>
                  <a:pt x="4996" y="6780"/>
                </a:cubicBezTo>
                <a:cubicBezTo>
                  <a:pt x="4952" y="6781"/>
                  <a:pt x="4883" y="6841"/>
                  <a:pt x="4699" y="7014"/>
                </a:cubicBezTo>
                <a:cubicBezTo>
                  <a:pt x="4637" y="7072"/>
                  <a:pt x="4141" y="7092"/>
                  <a:pt x="2679" y="7092"/>
                </a:cubicBezTo>
                <a:cubicBezTo>
                  <a:pt x="1013" y="7092"/>
                  <a:pt x="732" y="7115"/>
                  <a:pt x="571" y="7201"/>
                </a:cubicBezTo>
                <a:cubicBezTo>
                  <a:pt x="343" y="7322"/>
                  <a:pt x="233" y="7421"/>
                  <a:pt x="96" y="7700"/>
                </a:cubicBezTo>
                <a:cubicBezTo>
                  <a:pt x="-2" y="7899"/>
                  <a:pt x="-10" y="8125"/>
                  <a:pt x="7" y="10957"/>
                </a:cubicBezTo>
                <a:lnTo>
                  <a:pt x="36" y="13997"/>
                </a:lnTo>
                <a:lnTo>
                  <a:pt x="200" y="14168"/>
                </a:lnTo>
                <a:cubicBezTo>
                  <a:pt x="573" y="14549"/>
                  <a:pt x="567" y="14558"/>
                  <a:pt x="2679" y="14558"/>
                </a:cubicBezTo>
                <a:cubicBezTo>
                  <a:pt x="4136" y="14558"/>
                  <a:pt x="4633" y="14578"/>
                  <a:pt x="4699" y="14636"/>
                </a:cubicBezTo>
                <a:cubicBezTo>
                  <a:pt x="4747" y="14678"/>
                  <a:pt x="4808" y="14741"/>
                  <a:pt x="4847" y="14776"/>
                </a:cubicBezTo>
                <a:cubicBezTo>
                  <a:pt x="4916" y="14838"/>
                  <a:pt x="5498" y="15289"/>
                  <a:pt x="5723" y="15462"/>
                </a:cubicBezTo>
                <a:cubicBezTo>
                  <a:pt x="5784" y="15509"/>
                  <a:pt x="5932" y="15645"/>
                  <a:pt x="6050" y="15758"/>
                </a:cubicBezTo>
                <a:cubicBezTo>
                  <a:pt x="6167" y="15871"/>
                  <a:pt x="6288" y="15961"/>
                  <a:pt x="6317" y="15961"/>
                </a:cubicBezTo>
                <a:cubicBezTo>
                  <a:pt x="6346" y="15961"/>
                  <a:pt x="6427" y="16021"/>
                  <a:pt x="6495" y="16085"/>
                </a:cubicBezTo>
                <a:cubicBezTo>
                  <a:pt x="6564" y="16149"/>
                  <a:pt x="6744" y="16317"/>
                  <a:pt x="6896" y="16459"/>
                </a:cubicBezTo>
                <a:cubicBezTo>
                  <a:pt x="7048" y="16602"/>
                  <a:pt x="7164" y="16685"/>
                  <a:pt x="7164" y="16662"/>
                </a:cubicBezTo>
                <a:cubicBezTo>
                  <a:pt x="7164" y="16639"/>
                  <a:pt x="7311" y="16758"/>
                  <a:pt x="7490" y="16911"/>
                </a:cubicBezTo>
                <a:cubicBezTo>
                  <a:pt x="7669" y="17065"/>
                  <a:pt x="7847" y="17192"/>
                  <a:pt x="7876" y="17192"/>
                </a:cubicBezTo>
                <a:cubicBezTo>
                  <a:pt x="7905" y="17192"/>
                  <a:pt x="7921" y="17220"/>
                  <a:pt x="7921" y="17270"/>
                </a:cubicBezTo>
                <a:cubicBezTo>
                  <a:pt x="7921" y="17320"/>
                  <a:pt x="7955" y="17363"/>
                  <a:pt x="7995" y="17363"/>
                </a:cubicBezTo>
                <a:cubicBezTo>
                  <a:pt x="8035" y="17364"/>
                  <a:pt x="8151" y="17442"/>
                  <a:pt x="8247" y="17535"/>
                </a:cubicBezTo>
                <a:cubicBezTo>
                  <a:pt x="8344" y="17627"/>
                  <a:pt x="8554" y="17807"/>
                  <a:pt x="8723" y="17940"/>
                </a:cubicBezTo>
                <a:cubicBezTo>
                  <a:pt x="8891" y="18073"/>
                  <a:pt x="9034" y="18210"/>
                  <a:pt x="9034" y="18236"/>
                </a:cubicBezTo>
                <a:cubicBezTo>
                  <a:pt x="9034" y="18263"/>
                  <a:pt x="9081" y="18283"/>
                  <a:pt x="9138" y="18283"/>
                </a:cubicBezTo>
                <a:cubicBezTo>
                  <a:pt x="9196" y="18283"/>
                  <a:pt x="9277" y="18320"/>
                  <a:pt x="9317" y="18361"/>
                </a:cubicBezTo>
                <a:cubicBezTo>
                  <a:pt x="9356" y="18402"/>
                  <a:pt x="9520" y="18451"/>
                  <a:pt x="9688" y="18470"/>
                </a:cubicBezTo>
                <a:cubicBezTo>
                  <a:pt x="10165" y="18525"/>
                  <a:pt x="10535" y="18351"/>
                  <a:pt x="10712" y="17987"/>
                </a:cubicBezTo>
                <a:cubicBezTo>
                  <a:pt x="10828" y="17750"/>
                  <a:pt x="10831" y="17625"/>
                  <a:pt x="10831" y="10817"/>
                </a:cubicBezTo>
                <a:cubicBezTo>
                  <a:pt x="10831" y="5998"/>
                  <a:pt x="10815" y="3873"/>
                  <a:pt x="10772" y="3788"/>
                </a:cubicBezTo>
                <a:cubicBezTo>
                  <a:pt x="10610" y="3471"/>
                  <a:pt x="10108" y="3180"/>
                  <a:pt x="9717" y="3180"/>
                </a:cubicBezTo>
                <a:close/>
                <a:moveTo>
                  <a:pt x="13519" y="4146"/>
                </a:moveTo>
                <a:cubicBezTo>
                  <a:pt x="13347" y="4145"/>
                  <a:pt x="13169" y="4187"/>
                  <a:pt x="13014" y="4271"/>
                </a:cubicBezTo>
                <a:cubicBezTo>
                  <a:pt x="12762" y="4407"/>
                  <a:pt x="12464" y="4726"/>
                  <a:pt x="12464" y="4863"/>
                </a:cubicBezTo>
                <a:cubicBezTo>
                  <a:pt x="12464" y="4907"/>
                  <a:pt x="12431" y="4956"/>
                  <a:pt x="12390" y="4972"/>
                </a:cubicBezTo>
                <a:cubicBezTo>
                  <a:pt x="12349" y="4989"/>
                  <a:pt x="12257" y="5131"/>
                  <a:pt x="12182" y="5284"/>
                </a:cubicBezTo>
                <a:cubicBezTo>
                  <a:pt x="12107" y="5437"/>
                  <a:pt x="12004" y="5578"/>
                  <a:pt x="11960" y="5596"/>
                </a:cubicBezTo>
                <a:cubicBezTo>
                  <a:pt x="11916" y="5613"/>
                  <a:pt x="11885" y="5683"/>
                  <a:pt x="11885" y="5751"/>
                </a:cubicBezTo>
                <a:cubicBezTo>
                  <a:pt x="11885" y="5820"/>
                  <a:pt x="11858" y="5876"/>
                  <a:pt x="11826" y="5876"/>
                </a:cubicBezTo>
                <a:cubicBezTo>
                  <a:pt x="11792" y="5876"/>
                  <a:pt x="11767" y="6063"/>
                  <a:pt x="11767" y="6328"/>
                </a:cubicBezTo>
                <a:cubicBezTo>
                  <a:pt x="11767" y="6593"/>
                  <a:pt x="11792" y="6796"/>
                  <a:pt x="11826" y="6796"/>
                </a:cubicBezTo>
                <a:cubicBezTo>
                  <a:pt x="11858" y="6796"/>
                  <a:pt x="11884" y="6816"/>
                  <a:pt x="11885" y="6858"/>
                </a:cubicBezTo>
                <a:cubicBezTo>
                  <a:pt x="11886" y="6900"/>
                  <a:pt x="11982" y="7038"/>
                  <a:pt x="12093" y="7154"/>
                </a:cubicBezTo>
                <a:cubicBezTo>
                  <a:pt x="12204" y="7270"/>
                  <a:pt x="12286" y="7388"/>
                  <a:pt x="12286" y="7419"/>
                </a:cubicBezTo>
                <a:cubicBezTo>
                  <a:pt x="12286" y="7451"/>
                  <a:pt x="12331" y="7507"/>
                  <a:pt x="12375" y="7544"/>
                </a:cubicBezTo>
                <a:cubicBezTo>
                  <a:pt x="12495" y="7645"/>
                  <a:pt x="12761" y="8183"/>
                  <a:pt x="12761" y="8323"/>
                </a:cubicBezTo>
                <a:cubicBezTo>
                  <a:pt x="12761" y="8390"/>
                  <a:pt x="12802" y="8460"/>
                  <a:pt x="12851" y="8479"/>
                </a:cubicBezTo>
                <a:cubicBezTo>
                  <a:pt x="12899" y="8498"/>
                  <a:pt x="12940" y="8572"/>
                  <a:pt x="12940" y="8651"/>
                </a:cubicBezTo>
                <a:cubicBezTo>
                  <a:pt x="12940" y="8729"/>
                  <a:pt x="12967" y="8817"/>
                  <a:pt x="12999" y="8838"/>
                </a:cubicBezTo>
                <a:cubicBezTo>
                  <a:pt x="13031" y="8858"/>
                  <a:pt x="13044" y="8948"/>
                  <a:pt x="13044" y="9040"/>
                </a:cubicBezTo>
                <a:cubicBezTo>
                  <a:pt x="13044" y="9132"/>
                  <a:pt x="13079" y="9249"/>
                  <a:pt x="13118" y="9290"/>
                </a:cubicBezTo>
                <a:cubicBezTo>
                  <a:pt x="13159" y="9333"/>
                  <a:pt x="13207" y="9611"/>
                  <a:pt x="13222" y="9960"/>
                </a:cubicBezTo>
                <a:cubicBezTo>
                  <a:pt x="13236" y="10311"/>
                  <a:pt x="13265" y="10603"/>
                  <a:pt x="13311" y="10677"/>
                </a:cubicBezTo>
                <a:cubicBezTo>
                  <a:pt x="13387" y="10799"/>
                  <a:pt x="13368" y="11066"/>
                  <a:pt x="13281" y="11066"/>
                </a:cubicBezTo>
                <a:cubicBezTo>
                  <a:pt x="13257" y="11066"/>
                  <a:pt x="13220" y="11333"/>
                  <a:pt x="13207" y="11659"/>
                </a:cubicBezTo>
                <a:cubicBezTo>
                  <a:pt x="13191" y="12044"/>
                  <a:pt x="13163" y="12266"/>
                  <a:pt x="13118" y="12282"/>
                </a:cubicBezTo>
                <a:cubicBezTo>
                  <a:pt x="13079" y="12296"/>
                  <a:pt x="13044" y="12402"/>
                  <a:pt x="13044" y="12532"/>
                </a:cubicBezTo>
                <a:cubicBezTo>
                  <a:pt x="13044" y="12661"/>
                  <a:pt x="13031" y="12791"/>
                  <a:pt x="12999" y="12812"/>
                </a:cubicBezTo>
                <a:cubicBezTo>
                  <a:pt x="12967" y="12833"/>
                  <a:pt x="12940" y="12921"/>
                  <a:pt x="12940" y="12999"/>
                </a:cubicBezTo>
                <a:cubicBezTo>
                  <a:pt x="12940" y="13078"/>
                  <a:pt x="12899" y="13151"/>
                  <a:pt x="12851" y="13171"/>
                </a:cubicBezTo>
                <a:cubicBezTo>
                  <a:pt x="12802" y="13190"/>
                  <a:pt x="12761" y="13259"/>
                  <a:pt x="12761" y="13327"/>
                </a:cubicBezTo>
                <a:cubicBezTo>
                  <a:pt x="12761" y="13467"/>
                  <a:pt x="12495" y="14005"/>
                  <a:pt x="12375" y="14106"/>
                </a:cubicBezTo>
                <a:cubicBezTo>
                  <a:pt x="12331" y="14143"/>
                  <a:pt x="12286" y="14199"/>
                  <a:pt x="12286" y="14231"/>
                </a:cubicBezTo>
                <a:cubicBezTo>
                  <a:pt x="12286" y="14262"/>
                  <a:pt x="12204" y="14379"/>
                  <a:pt x="12093" y="14496"/>
                </a:cubicBezTo>
                <a:cubicBezTo>
                  <a:pt x="11982" y="14612"/>
                  <a:pt x="11886" y="14764"/>
                  <a:pt x="11885" y="14823"/>
                </a:cubicBezTo>
                <a:cubicBezTo>
                  <a:pt x="11884" y="14882"/>
                  <a:pt x="11858" y="14916"/>
                  <a:pt x="11826" y="14916"/>
                </a:cubicBezTo>
                <a:cubicBezTo>
                  <a:pt x="11794" y="14916"/>
                  <a:pt x="11767" y="15048"/>
                  <a:pt x="11767" y="15197"/>
                </a:cubicBezTo>
                <a:cubicBezTo>
                  <a:pt x="11767" y="15346"/>
                  <a:pt x="11794" y="15488"/>
                  <a:pt x="11826" y="15509"/>
                </a:cubicBezTo>
                <a:cubicBezTo>
                  <a:pt x="11858" y="15529"/>
                  <a:pt x="11885" y="15599"/>
                  <a:pt x="11885" y="15665"/>
                </a:cubicBezTo>
                <a:cubicBezTo>
                  <a:pt x="11885" y="15730"/>
                  <a:pt x="11913" y="15774"/>
                  <a:pt x="11945" y="15774"/>
                </a:cubicBezTo>
                <a:cubicBezTo>
                  <a:pt x="11976" y="15774"/>
                  <a:pt x="12085" y="15946"/>
                  <a:pt x="12182" y="16148"/>
                </a:cubicBezTo>
                <a:cubicBezTo>
                  <a:pt x="12279" y="16350"/>
                  <a:pt x="12377" y="16506"/>
                  <a:pt x="12405" y="16506"/>
                </a:cubicBezTo>
                <a:cubicBezTo>
                  <a:pt x="12433" y="16506"/>
                  <a:pt x="12476" y="16569"/>
                  <a:pt x="12494" y="16647"/>
                </a:cubicBezTo>
                <a:cubicBezTo>
                  <a:pt x="12541" y="16844"/>
                  <a:pt x="13011" y="17332"/>
                  <a:pt x="13207" y="17379"/>
                </a:cubicBezTo>
                <a:cubicBezTo>
                  <a:pt x="13519" y="17453"/>
                  <a:pt x="13834" y="17420"/>
                  <a:pt x="14083" y="17301"/>
                </a:cubicBezTo>
                <a:cubicBezTo>
                  <a:pt x="14344" y="17177"/>
                  <a:pt x="15093" y="16440"/>
                  <a:pt x="15093" y="16304"/>
                </a:cubicBezTo>
                <a:cubicBezTo>
                  <a:pt x="15093" y="16261"/>
                  <a:pt x="15187" y="16124"/>
                  <a:pt x="15300" y="15992"/>
                </a:cubicBezTo>
                <a:cubicBezTo>
                  <a:pt x="15414" y="15860"/>
                  <a:pt x="15576" y="15577"/>
                  <a:pt x="15672" y="15368"/>
                </a:cubicBezTo>
                <a:cubicBezTo>
                  <a:pt x="15768" y="15159"/>
                  <a:pt x="15878" y="14968"/>
                  <a:pt x="15909" y="14948"/>
                </a:cubicBezTo>
                <a:cubicBezTo>
                  <a:pt x="15940" y="14927"/>
                  <a:pt x="15969" y="14862"/>
                  <a:pt x="15969" y="14792"/>
                </a:cubicBezTo>
                <a:cubicBezTo>
                  <a:pt x="15969" y="14721"/>
                  <a:pt x="16022" y="14575"/>
                  <a:pt x="16102" y="14464"/>
                </a:cubicBezTo>
                <a:cubicBezTo>
                  <a:pt x="16202" y="14327"/>
                  <a:pt x="16251" y="14180"/>
                  <a:pt x="16251" y="14012"/>
                </a:cubicBezTo>
                <a:cubicBezTo>
                  <a:pt x="16251" y="13877"/>
                  <a:pt x="16285" y="13743"/>
                  <a:pt x="16325" y="13716"/>
                </a:cubicBezTo>
                <a:cubicBezTo>
                  <a:pt x="16443" y="13637"/>
                  <a:pt x="16548" y="13263"/>
                  <a:pt x="16548" y="12890"/>
                </a:cubicBezTo>
                <a:cubicBezTo>
                  <a:pt x="16548" y="12699"/>
                  <a:pt x="16575" y="12532"/>
                  <a:pt x="16607" y="12532"/>
                </a:cubicBezTo>
                <a:cubicBezTo>
                  <a:pt x="16641" y="12532"/>
                  <a:pt x="16666" y="12350"/>
                  <a:pt x="16667" y="12095"/>
                </a:cubicBezTo>
                <a:cubicBezTo>
                  <a:pt x="16667" y="11822"/>
                  <a:pt x="16702" y="11580"/>
                  <a:pt x="16756" y="11472"/>
                </a:cubicBezTo>
                <a:cubicBezTo>
                  <a:pt x="16811" y="11360"/>
                  <a:pt x="16830" y="11120"/>
                  <a:pt x="16830" y="10817"/>
                </a:cubicBezTo>
                <a:cubicBezTo>
                  <a:pt x="16830" y="10514"/>
                  <a:pt x="16811" y="10290"/>
                  <a:pt x="16756" y="10178"/>
                </a:cubicBezTo>
                <a:cubicBezTo>
                  <a:pt x="16702" y="10070"/>
                  <a:pt x="16667" y="9828"/>
                  <a:pt x="16667" y="9555"/>
                </a:cubicBezTo>
                <a:cubicBezTo>
                  <a:pt x="16666" y="9300"/>
                  <a:pt x="16641" y="9118"/>
                  <a:pt x="16607" y="9118"/>
                </a:cubicBezTo>
                <a:cubicBezTo>
                  <a:pt x="16575" y="9118"/>
                  <a:pt x="16548" y="8951"/>
                  <a:pt x="16548" y="8760"/>
                </a:cubicBezTo>
                <a:cubicBezTo>
                  <a:pt x="16548" y="8425"/>
                  <a:pt x="16494" y="8182"/>
                  <a:pt x="16340" y="7793"/>
                </a:cubicBezTo>
                <a:cubicBezTo>
                  <a:pt x="16300" y="7692"/>
                  <a:pt x="16238" y="7550"/>
                  <a:pt x="16206" y="7466"/>
                </a:cubicBezTo>
                <a:cubicBezTo>
                  <a:pt x="16001" y="6919"/>
                  <a:pt x="15938" y="6752"/>
                  <a:pt x="15880" y="6671"/>
                </a:cubicBezTo>
                <a:cubicBezTo>
                  <a:pt x="15843" y="6621"/>
                  <a:pt x="15742" y="6420"/>
                  <a:pt x="15657" y="6235"/>
                </a:cubicBezTo>
                <a:cubicBezTo>
                  <a:pt x="15572" y="6050"/>
                  <a:pt x="15414" y="5790"/>
                  <a:pt x="15300" y="5658"/>
                </a:cubicBezTo>
                <a:cubicBezTo>
                  <a:pt x="15187" y="5526"/>
                  <a:pt x="15093" y="5385"/>
                  <a:pt x="15093" y="5346"/>
                </a:cubicBezTo>
                <a:cubicBezTo>
                  <a:pt x="15093" y="5267"/>
                  <a:pt x="14631" y="4770"/>
                  <a:pt x="14558" y="4770"/>
                </a:cubicBezTo>
                <a:cubicBezTo>
                  <a:pt x="14532" y="4770"/>
                  <a:pt x="14514" y="4738"/>
                  <a:pt x="14514" y="4692"/>
                </a:cubicBezTo>
                <a:cubicBezTo>
                  <a:pt x="14514" y="4605"/>
                  <a:pt x="14383" y="4500"/>
                  <a:pt x="13994" y="4271"/>
                </a:cubicBezTo>
                <a:cubicBezTo>
                  <a:pt x="13848" y="4185"/>
                  <a:pt x="13690" y="4147"/>
                  <a:pt x="13519" y="4146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331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0" t="51672" r="0" b="0"/>
          <a:stretch>
            <a:fillRect/>
          </a:stretch>
        </p:blipFill>
        <p:spPr>
          <a:xfrm>
            <a:off x="6565696" y="3242991"/>
            <a:ext cx="1741195" cy="513101"/>
          </a:xfrm>
          <a:prstGeom prst="rect">
            <a:avLst/>
          </a:prstGeom>
          <a:ln w="12700">
            <a:miter lim="400000"/>
          </a:ln>
        </p:spPr>
      </p:pic>
      <p:sp>
        <p:nvSpPr>
          <p:cNvPr id="332" name="Circle"/>
          <p:cNvSpPr/>
          <p:nvPr/>
        </p:nvSpPr>
        <p:spPr>
          <a:xfrm>
            <a:off x="7865220" y="3294433"/>
            <a:ext cx="194470" cy="194469"/>
          </a:xfrm>
          <a:prstGeom prst="ellipse">
            <a:avLst/>
          </a:prstGeom>
          <a:solidFill>
            <a:srgbClr val="5794F5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333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888767" y="3281733"/>
            <a:ext cx="172777" cy="194469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Google Shape;193;p35"/>
          <p:cNvSpPr/>
          <p:nvPr/>
        </p:nvSpPr>
        <p:spPr>
          <a:xfrm flipH="1" flipV="1">
            <a:off x="4446649" y="1817855"/>
            <a:ext cx="734733" cy="734734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5" name="Google Shape;193;p35"/>
          <p:cNvSpPr/>
          <p:nvPr/>
        </p:nvSpPr>
        <p:spPr>
          <a:xfrm flipH="1" flipV="1">
            <a:off x="6141936" y="2639405"/>
            <a:ext cx="734733" cy="734733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36" name="Google Shape;193;p35"/>
          <p:cNvSpPr/>
          <p:nvPr/>
        </p:nvSpPr>
        <p:spPr>
          <a:xfrm flipH="1">
            <a:off x="6141936" y="1824189"/>
            <a:ext cx="734733" cy="734734"/>
          </a:xfrm>
          <a:prstGeom prst="line">
            <a:avLst/>
          </a:prstGeom>
          <a:ln w="28575">
            <a:solidFill>
              <a:srgbClr val="067D78"/>
            </a:solidFill>
            <a:headEnd type="stealth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“Give me a model for X with Y data”</a:t>
            </a:r>
          </a:p>
        </p:txBody>
      </p:sp>
      <p:pic>
        <p:nvPicPr>
          <p:cNvPr id="339" name="Google Shape;454;p46" descr="Google Shape;454;p46"/>
          <p:cNvPicPr>
            <a:picLocks noChangeAspect="1"/>
          </p:cNvPicPr>
          <p:nvPr/>
        </p:nvPicPr>
        <p:blipFill>
          <a:blip r:embed="rId2">
            <a:extLst/>
          </a:blip>
          <a:srcRect l="0" t="33114" r="0" b="0"/>
          <a:stretch>
            <a:fillRect/>
          </a:stretch>
        </p:blipFill>
        <p:spPr>
          <a:xfrm>
            <a:off x="209775" y="2075174"/>
            <a:ext cx="8897951" cy="2656077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Google Shape;455;p46"/>
          <p:cNvSpPr txBox="1"/>
          <p:nvPr>
            <p:ph type="body" sz="half" idx="1"/>
          </p:nvPr>
        </p:nvSpPr>
        <p:spPr>
          <a:xfrm>
            <a:off x="295550" y="795900"/>
            <a:ext cx="8726400" cy="11865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Use AutoML -&gt; best pipelines/models on all our datasets </a:t>
            </a:r>
            <a:r>
              <a:rPr i="1"/>
              <a:t>beforehand</a:t>
            </a:r>
            <a:endParaRPr i="1"/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Create a </a:t>
            </a:r>
            <a:r>
              <a:rPr i="1"/>
              <a:t>portfolio</a:t>
            </a:r>
            <a:r>
              <a:t> of best pipelines/models per task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When the user/LLM requests a model, find the best models within the portfolio and finetune them to the new task</a:t>
            </a:r>
          </a:p>
          <a:p>
            <a:pPr>
              <a:lnSpc>
                <a:spcPct val="81000"/>
              </a:lnSpc>
              <a:spcBef>
                <a:spcPts val="0"/>
              </a:spcBef>
              <a:buSzPts val="1700"/>
              <a:buChar char="●"/>
              <a:defRPr sz="1700"/>
            </a:pPr>
            <a:r>
              <a:t>If new task -&gt; Find the most relevant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Model Card </a:t>
            </a:r>
          </a:p>
        </p:txBody>
      </p:sp>
      <p:sp>
        <p:nvSpPr>
          <p:cNvPr id="343" name="Google Shape;455;p46"/>
          <p:cNvSpPr txBox="1"/>
          <p:nvPr>
            <p:ph type="body" sz="quarter" idx="1"/>
          </p:nvPr>
        </p:nvSpPr>
        <p:spPr>
          <a:xfrm>
            <a:off x="5654950" y="4040750"/>
            <a:ext cx="2912331" cy="459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1000"/>
              </a:lnSpc>
              <a:spcBef>
                <a:spcPts val="0"/>
              </a:spcBef>
              <a:buClrTx/>
              <a:buSzTx/>
              <a:buFontTx/>
              <a:buNone/>
              <a:defRPr sz="1700"/>
            </a:lvl1pPr>
          </a:lstStyle>
          <a:p>
            <a:pPr/>
            <a:r>
              <a:t>Similarly for datasets…</a:t>
            </a:r>
          </a:p>
        </p:txBody>
      </p:sp>
      <p:pic>
        <p:nvPicPr>
          <p:cNvPr id="34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0942" y="702956"/>
            <a:ext cx="5002998" cy="39065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Design choices</a:t>
            </a:r>
          </a:p>
        </p:txBody>
      </p:sp>
      <p:pic>
        <p:nvPicPr>
          <p:cNvPr id="347" name="Google Shape;189;p35" descr="Google Shape;189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84" y="668132"/>
            <a:ext cx="1822952" cy="174125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Google Shape;431;p44"/>
          <p:cNvSpPr/>
          <p:nvPr/>
        </p:nvSpPr>
        <p:spPr>
          <a:xfrm>
            <a:off x="2200150" y="1244407"/>
            <a:ext cx="1776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9" name="Google Shape;455;p46"/>
          <p:cNvSpPr txBox="1"/>
          <p:nvPr>
            <p:ph type="body" sz="quarter" idx="1"/>
          </p:nvPr>
        </p:nvSpPr>
        <p:spPr>
          <a:xfrm>
            <a:off x="182582" y="3187241"/>
            <a:ext cx="7992900" cy="1171696"/>
          </a:xfrm>
          <a:prstGeom prst="rect">
            <a:avLst/>
          </a:prstGeom>
        </p:spPr>
        <p:txBody>
          <a:bodyPr/>
          <a:lstStyle/>
          <a:p>
            <a:pPr marL="241300" indent="-236695">
              <a:lnSpc>
                <a:spcPct val="80000"/>
              </a:lnSpc>
              <a:spcBef>
                <a:spcPts val="0"/>
              </a:spcBef>
              <a:buClr>
                <a:srgbClr val="797ED6"/>
              </a:buClr>
              <a:buSzPct val="127777"/>
              <a:defRPr b="1" sz="1600">
                <a:solidFill>
                  <a:srgbClr val="797ED6"/>
                </a:solidFill>
              </a:defRPr>
            </a:pPr>
            <a:r>
              <a:t>Architecture search space</a:t>
            </a:r>
            <a:r>
              <a:rPr b="0">
                <a:solidFill>
                  <a:srgbClr val="0B3550"/>
                </a:solidFill>
              </a:rPr>
              <a:t>: represent</a:t>
            </a:r>
            <a:r>
              <a:rPr b="0" i="1">
                <a:solidFill>
                  <a:srgbClr val="0B3550"/>
                </a:solidFill>
              </a:rPr>
              <a:t> </a:t>
            </a:r>
            <a:r>
              <a:rPr b="0" i="1" sz="1500">
                <a:solidFill>
                  <a:srgbClr val="0B3550"/>
                </a:solidFill>
              </a:rPr>
              <a:t>relevant</a:t>
            </a:r>
            <a:r>
              <a:rPr b="0" sz="1500">
                <a:solidFill>
                  <a:srgbClr val="0B3550"/>
                </a:solidFill>
              </a:rPr>
              <a:t> models</a:t>
            </a:r>
          </a:p>
          <a:p>
            <a:pPr marL="241300" indent="-236695">
              <a:lnSpc>
                <a:spcPct val="80000"/>
              </a:lnSpc>
              <a:spcBef>
                <a:spcPts val="1100"/>
              </a:spcBef>
              <a:buClr>
                <a:srgbClr val="EB220C"/>
              </a:buClr>
              <a:buSzPct val="127777"/>
              <a:defRPr b="1" sz="1600">
                <a:solidFill>
                  <a:srgbClr val="EB220C"/>
                </a:solidFill>
              </a:defRPr>
            </a:pPr>
            <a:r>
              <a:t>Meta-learning, transfer learning</a:t>
            </a:r>
            <a:r>
              <a:rPr b="0">
                <a:solidFill>
                  <a:srgbClr val="0B3550"/>
                </a:solidFill>
              </a:rPr>
              <a:t>: transfer </a:t>
            </a:r>
            <a:r>
              <a:rPr b="0" i="1">
                <a:solidFill>
                  <a:srgbClr val="0B3550"/>
                </a:solidFill>
              </a:rPr>
              <a:t>experience</a:t>
            </a:r>
            <a:r>
              <a:rPr b="0">
                <a:solidFill>
                  <a:srgbClr val="0B3550"/>
                </a:solidFill>
              </a:rPr>
              <a:t> from previous tasks</a:t>
            </a:r>
            <a:endParaRPr b="0">
              <a:solidFill>
                <a:srgbClr val="0B3550"/>
              </a:solidFill>
            </a:endParaRPr>
          </a:p>
          <a:p>
            <a:pPr marL="241300" indent="-236695">
              <a:lnSpc>
                <a:spcPct val="80000"/>
              </a:lnSpc>
              <a:spcBef>
                <a:spcPts val="1100"/>
              </a:spcBef>
              <a:buClr>
                <a:schemeClr val="accent2"/>
              </a:buClr>
              <a:buSzPct val="127777"/>
              <a:defRPr b="1" sz="1600">
                <a:solidFill>
                  <a:schemeClr val="accent2">
                    <a:lumOff val="-2588"/>
                  </a:schemeClr>
                </a:solidFill>
              </a:defRPr>
            </a:pPr>
            <a:r>
              <a:rPr>
                <a:solidFill>
                  <a:srgbClr val="BC4423"/>
                </a:solidFill>
              </a:rPr>
              <a:t>Warm</a:t>
            </a:r>
            <a:r>
              <a:t> </a:t>
            </a:r>
            <a:r>
              <a:rPr>
                <a:solidFill>
                  <a:srgbClr val="5C8C29"/>
                </a:solidFill>
              </a:rPr>
              <a:t>start</a:t>
            </a:r>
            <a:r>
              <a:rPr b="0"/>
              <a:t>: start from promising architectures/configurations/initializations</a:t>
            </a:r>
          </a:p>
        </p:txBody>
      </p:sp>
      <p:sp>
        <p:nvSpPr>
          <p:cNvPr id="350" name="Google Shape;372;p42"/>
          <p:cNvSpPr/>
          <p:nvPr/>
        </p:nvSpPr>
        <p:spPr>
          <a:xfrm>
            <a:off x="2663140" y="661179"/>
            <a:ext cx="916887" cy="470101"/>
          </a:xfrm>
          <a:prstGeom prst="roundRect">
            <a:avLst>
              <a:gd name="adj" fmla="val 20389"/>
            </a:avLst>
          </a:prstGeom>
          <a:solidFill>
            <a:srgbClr val="7B7DD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Search space</a:t>
            </a:r>
          </a:p>
        </p:txBody>
      </p:sp>
      <p:sp>
        <p:nvSpPr>
          <p:cNvPr id="351" name="Google Shape;376;p42"/>
          <p:cNvSpPr/>
          <p:nvPr/>
        </p:nvSpPr>
        <p:spPr>
          <a:xfrm>
            <a:off x="5613481" y="1352181"/>
            <a:ext cx="850108" cy="470101"/>
          </a:xfrm>
          <a:prstGeom prst="roundRect">
            <a:avLst>
              <a:gd name="adj" fmla="val 20389"/>
            </a:avLst>
          </a:prstGeom>
          <a:solidFill>
            <a:srgbClr val="7B7DD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Best model</a:t>
            </a:r>
          </a:p>
        </p:txBody>
      </p:sp>
      <p:sp>
        <p:nvSpPr>
          <p:cNvPr id="352" name="Google Shape;379;p42"/>
          <p:cNvSpPr/>
          <p:nvPr/>
        </p:nvSpPr>
        <p:spPr>
          <a:xfrm>
            <a:off x="3631236" y="920736"/>
            <a:ext cx="461121" cy="46112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3" name="Google Shape;380;p42"/>
          <p:cNvSpPr/>
          <p:nvPr/>
        </p:nvSpPr>
        <p:spPr>
          <a:xfrm>
            <a:off x="3624278" y="1651514"/>
            <a:ext cx="4660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4" name="Google Shape;383;p42"/>
          <p:cNvSpPr/>
          <p:nvPr/>
        </p:nvSpPr>
        <p:spPr>
          <a:xfrm flipV="1">
            <a:off x="2411211" y="852461"/>
            <a:ext cx="209700" cy="3789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5" name="Google Shape;384;p42"/>
          <p:cNvSpPr/>
          <p:nvPr/>
        </p:nvSpPr>
        <p:spPr>
          <a:xfrm>
            <a:off x="2408497" y="1255976"/>
            <a:ext cx="215401" cy="36420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6" name="Google Shape;387;p42"/>
          <p:cNvSpPr/>
          <p:nvPr/>
        </p:nvSpPr>
        <p:spPr>
          <a:xfrm flipV="1">
            <a:off x="3633895" y="1880813"/>
            <a:ext cx="455804" cy="455804"/>
          </a:xfrm>
          <a:prstGeom prst="line">
            <a:avLst/>
          </a:prstGeom>
          <a:ln w="25400">
            <a:solidFill>
              <a:srgbClr val="000000">
                <a:alpha val="58040"/>
              </a:srgbClr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7" name="Google Shape;389;p42"/>
          <p:cNvSpPr/>
          <p:nvPr/>
        </p:nvSpPr>
        <p:spPr>
          <a:xfrm>
            <a:off x="2411697" y="1307838"/>
            <a:ext cx="221701" cy="997500"/>
          </a:xfrm>
          <a:prstGeom prst="line">
            <a:avLst/>
          </a:prstGeom>
          <a:ln w="25400">
            <a:solidFill>
              <a:srgbClr val="000000">
                <a:alpha val="58040"/>
              </a:srgbClr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8" name="Google Shape;426;p44"/>
          <p:cNvSpPr/>
          <p:nvPr/>
        </p:nvSpPr>
        <p:spPr>
          <a:xfrm>
            <a:off x="2663140" y="1393626"/>
            <a:ext cx="953064" cy="470101"/>
          </a:xfrm>
          <a:prstGeom prst="roundRect">
            <a:avLst>
              <a:gd name="adj" fmla="val 20389"/>
            </a:avLst>
          </a:prstGeom>
          <a:gradFill>
            <a:gsLst>
              <a:gs pos="0">
                <a:srgbClr val="EB220C"/>
              </a:gs>
              <a:gs pos="100000">
                <a:srgbClr val="1DAD01"/>
              </a:gs>
            </a:gsLst>
            <a:lin ang="471487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Warm Start</a:t>
            </a:r>
          </a:p>
        </p:txBody>
      </p:sp>
      <p:sp>
        <p:nvSpPr>
          <p:cNvPr id="359" name="Google Shape;423;p44"/>
          <p:cNvSpPr/>
          <p:nvPr/>
        </p:nvSpPr>
        <p:spPr>
          <a:xfrm>
            <a:off x="2677593" y="2073864"/>
            <a:ext cx="916887" cy="470101"/>
          </a:xfrm>
          <a:prstGeom prst="roundRect">
            <a:avLst>
              <a:gd name="adj" fmla="val 20389"/>
            </a:avLst>
          </a:prstGeom>
          <a:solidFill>
            <a:srgbClr val="EB220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chemeClr val="accent2">
                    <a:lumOff val="-2588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Transfer Learning</a:t>
            </a:r>
          </a:p>
        </p:txBody>
      </p:sp>
      <p:sp>
        <p:nvSpPr>
          <p:cNvPr id="360" name="Google Shape;401;p43"/>
          <p:cNvSpPr/>
          <p:nvPr/>
        </p:nvSpPr>
        <p:spPr>
          <a:xfrm>
            <a:off x="4114041" y="1352181"/>
            <a:ext cx="915918" cy="598668"/>
          </a:xfrm>
          <a:prstGeom prst="roundRect">
            <a:avLst>
              <a:gd name="adj" fmla="val 17250"/>
            </a:avLst>
          </a:prstGeom>
          <a:solidFill>
            <a:srgbClr val="1DAD0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>
              <a:defRPr sz="1200">
                <a:solidFill>
                  <a:schemeClr val="accent2">
                    <a:lumOff val="-2588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Training with constraints</a:t>
            </a:r>
          </a:p>
        </p:txBody>
      </p:sp>
      <p:sp>
        <p:nvSpPr>
          <p:cNvPr id="361" name="Google Shape;380;p42"/>
          <p:cNvSpPr/>
          <p:nvPr/>
        </p:nvSpPr>
        <p:spPr>
          <a:xfrm>
            <a:off x="5055786" y="1630689"/>
            <a:ext cx="46605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“Here is file/code X, I want it to do Y”</a:t>
            </a:r>
          </a:p>
        </p:txBody>
      </p:sp>
      <p:grpSp>
        <p:nvGrpSpPr>
          <p:cNvPr id="386" name="Group"/>
          <p:cNvGrpSpPr/>
          <p:nvPr/>
        </p:nvGrpSpPr>
        <p:grpSpPr>
          <a:xfrm>
            <a:off x="246739" y="1449659"/>
            <a:ext cx="8650522" cy="2078706"/>
            <a:chOff x="0" y="0"/>
            <a:chExt cx="8650521" cy="2078704"/>
          </a:xfrm>
        </p:grpSpPr>
        <p:sp>
          <p:nvSpPr>
            <p:cNvPr id="364" name="Google Shape;193;p35"/>
            <p:cNvSpPr/>
            <p:nvPr/>
          </p:nvSpPr>
          <p:spPr>
            <a:xfrm>
              <a:off x="2153850" y="916943"/>
              <a:ext cx="780554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grpSp>
          <p:nvGrpSpPr>
            <p:cNvPr id="368" name="Google Shape;200;p35"/>
            <p:cNvGrpSpPr/>
            <p:nvPr/>
          </p:nvGrpSpPr>
          <p:grpSpPr>
            <a:xfrm>
              <a:off x="178374" y="393045"/>
              <a:ext cx="312027" cy="312027"/>
              <a:chOff x="0" y="0"/>
              <a:chExt cx="312026" cy="312026"/>
            </a:xfrm>
          </p:grpSpPr>
          <p:sp>
            <p:nvSpPr>
              <p:cNvPr id="365" name="Circle"/>
              <p:cNvSpPr/>
              <p:nvPr/>
            </p:nvSpPr>
            <p:spPr>
              <a:xfrm>
                <a:off x="-1" y="-1"/>
                <a:ext cx="312028" cy="312028"/>
              </a:xfrm>
              <a:prstGeom prst="ellipse">
                <a:avLst/>
              </a:prstGeom>
              <a:solidFill>
                <a:srgbClr val="FFD96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66" name="Shape"/>
              <p:cNvSpPr/>
              <p:nvPr/>
            </p:nvSpPr>
            <p:spPr>
              <a:xfrm>
                <a:off x="89779" y="93101"/>
                <a:ext cx="132468" cy="325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800"/>
                    </a:moveTo>
                    <a:cubicBezTo>
                      <a:pt x="0" y="4835"/>
                      <a:pt x="1186" y="0"/>
                      <a:pt x="2650" y="0"/>
                    </a:cubicBezTo>
                    <a:cubicBezTo>
                      <a:pt x="4113" y="0"/>
                      <a:pt x="5300" y="4835"/>
                      <a:pt x="5300" y="10800"/>
                    </a:cubicBezTo>
                    <a:cubicBezTo>
                      <a:pt x="5300" y="16765"/>
                      <a:pt x="4113" y="21600"/>
                      <a:pt x="2650" y="21600"/>
                    </a:cubicBezTo>
                    <a:cubicBezTo>
                      <a:pt x="1186" y="21600"/>
                      <a:pt x="0" y="16765"/>
                      <a:pt x="0" y="10800"/>
                    </a:cubicBezTo>
                    <a:moveTo>
                      <a:pt x="16300" y="10800"/>
                    </a:moveTo>
                    <a:cubicBezTo>
                      <a:pt x="16300" y="4835"/>
                      <a:pt x="17487" y="0"/>
                      <a:pt x="18950" y="0"/>
                    </a:cubicBezTo>
                    <a:cubicBezTo>
                      <a:pt x="20414" y="0"/>
                      <a:pt x="21600" y="4835"/>
                      <a:pt x="21600" y="10800"/>
                    </a:cubicBezTo>
                    <a:cubicBezTo>
                      <a:pt x="21600" y="16765"/>
                      <a:pt x="20414" y="21600"/>
                      <a:pt x="18950" y="21600"/>
                    </a:cubicBezTo>
                    <a:cubicBezTo>
                      <a:pt x="17487" y="21600"/>
                      <a:pt x="16300" y="16765"/>
                      <a:pt x="16300" y="10800"/>
                    </a:cubicBezTo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67" name="Shape"/>
              <p:cNvSpPr/>
              <p:nvPr/>
            </p:nvSpPr>
            <p:spPr>
              <a:xfrm>
                <a:off x="-1" y="-1"/>
                <a:ext cx="312028" cy="3120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215" y="7570"/>
                    </a:moveTo>
                    <a:cubicBezTo>
                      <a:pt x="6215" y="6949"/>
                      <a:pt x="6719" y="6445"/>
                      <a:pt x="7340" y="6445"/>
                    </a:cubicBezTo>
                    <a:cubicBezTo>
                      <a:pt x="7961" y="6445"/>
                      <a:pt x="8465" y="6949"/>
                      <a:pt x="8465" y="7570"/>
                    </a:cubicBezTo>
                    <a:cubicBezTo>
                      <a:pt x="8465" y="8191"/>
                      <a:pt x="7961" y="8695"/>
                      <a:pt x="7340" y="8695"/>
                    </a:cubicBezTo>
                    <a:cubicBezTo>
                      <a:pt x="6719" y="8695"/>
                      <a:pt x="6215" y="8191"/>
                      <a:pt x="6215" y="7570"/>
                    </a:cubicBezTo>
                    <a:moveTo>
                      <a:pt x="13135" y="7570"/>
                    </a:moveTo>
                    <a:cubicBezTo>
                      <a:pt x="13135" y="6949"/>
                      <a:pt x="13639" y="6445"/>
                      <a:pt x="14260" y="6445"/>
                    </a:cubicBezTo>
                    <a:cubicBezTo>
                      <a:pt x="14881" y="6445"/>
                      <a:pt x="15385" y="6949"/>
                      <a:pt x="15385" y="7570"/>
                    </a:cubicBezTo>
                    <a:cubicBezTo>
                      <a:pt x="15385" y="8191"/>
                      <a:pt x="14881" y="8695"/>
                      <a:pt x="14260" y="8695"/>
                    </a:cubicBezTo>
                    <a:cubicBezTo>
                      <a:pt x="13639" y="8695"/>
                      <a:pt x="13135" y="8191"/>
                      <a:pt x="13135" y="7570"/>
                    </a:cubicBezTo>
                    <a:moveTo>
                      <a:pt x="4946" y="15510"/>
                    </a:moveTo>
                    <a:cubicBezTo>
                      <a:pt x="8849" y="18190"/>
                      <a:pt x="12747" y="18190"/>
                      <a:pt x="16640" y="15510"/>
                    </a:cubicBezTo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</a:path>
                </a:pathLst>
              </a:custGeom>
              <a:noFill/>
              <a:ln w="9525" cap="flat">
                <a:solidFill>
                  <a:srgbClr val="BF9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369" name="Google Shape;201;p35"/>
            <p:cNvSpPr txBox="1"/>
            <p:nvPr/>
          </p:nvSpPr>
          <p:spPr>
            <a:xfrm>
              <a:off x="0" y="738827"/>
              <a:ext cx="801348" cy="5117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sz="1000">
                  <a:solidFill>
                    <a:srgbClr val="0B3550"/>
                  </a:solidFill>
                </a:defRPr>
              </a:lvl1pPr>
            </a:lstStyle>
            <a:p>
              <a:pPr/>
              <a:r>
                <a:t>Designer User</a:t>
              </a:r>
            </a:p>
          </p:txBody>
        </p:sp>
        <p:sp>
          <p:nvSpPr>
            <p:cNvPr id="370" name="Google Shape;193;p35"/>
            <p:cNvSpPr/>
            <p:nvPr/>
          </p:nvSpPr>
          <p:spPr>
            <a:xfrm>
              <a:off x="745870" y="916943"/>
              <a:ext cx="312027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1" name="Google Shape;201;p35"/>
            <p:cNvSpPr txBox="1"/>
            <p:nvPr/>
          </p:nvSpPr>
          <p:spPr>
            <a:xfrm>
              <a:off x="576207" y="375309"/>
              <a:ext cx="801349" cy="5117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sz="1000">
                  <a:solidFill>
                    <a:srgbClr val="0B3550"/>
                  </a:solidFill>
                </a:defRPr>
              </a:lvl1pPr>
            </a:lstStyle>
            <a:p>
              <a:pPr/>
              <a:r>
                <a:t>Query + Files</a:t>
              </a:r>
            </a:p>
          </p:txBody>
        </p:sp>
        <p:grpSp>
          <p:nvGrpSpPr>
            <p:cNvPr id="374" name="Google Shape;186;p35"/>
            <p:cNvGrpSpPr/>
            <p:nvPr/>
          </p:nvGrpSpPr>
          <p:grpSpPr>
            <a:xfrm>
              <a:off x="3081706" y="0"/>
              <a:ext cx="1519347" cy="1868709"/>
              <a:chOff x="0" y="-656641"/>
              <a:chExt cx="1519345" cy="1868708"/>
            </a:xfrm>
          </p:grpSpPr>
          <p:sp>
            <p:nvSpPr>
              <p:cNvPr id="372" name="Rectangle"/>
              <p:cNvSpPr/>
              <p:nvPr/>
            </p:nvSpPr>
            <p:spPr>
              <a:xfrm>
                <a:off x="-1" y="-656642"/>
                <a:ext cx="1519344" cy="1841705"/>
              </a:xfrm>
              <a:prstGeom prst="rect">
                <a:avLst/>
              </a:prstGeom>
              <a:solidFill>
                <a:srgbClr val="75A089"/>
              </a:solidFill>
              <a:ln w="9525" cap="flat">
                <a:solidFill>
                  <a:srgbClr val="067D78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73" name="File : X…"/>
              <p:cNvSpPr txBox="1"/>
              <p:nvPr/>
            </p:nvSpPr>
            <p:spPr>
              <a:xfrm>
                <a:off x="5179" y="-621088"/>
                <a:ext cx="1514167" cy="183315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/>
              <a:p>
                <a:pPr algn="ctr">
                  <a:defRPr sz="1200"/>
                </a:pPr>
                <a:r>
                  <a:t>File : X</a:t>
                </a:r>
              </a:p>
              <a:p>
                <a:pPr algn="ctr">
                  <a:defRPr sz="1200"/>
                </a:pPr>
                <a:r>
                  <a:t>Type : Excel sheet</a:t>
                </a:r>
              </a:p>
              <a:p>
                <a:pPr algn="ctr">
                  <a:defRPr sz="1200"/>
                </a:pPr>
                <a:r>
                  <a:t>Required : Add a column to compute a magic formula</a:t>
                </a:r>
              </a:p>
            </p:txBody>
          </p:sp>
        </p:grpSp>
        <p:sp>
          <p:nvSpPr>
            <p:cNvPr id="375" name="Google Shape;201;p35"/>
            <p:cNvSpPr txBox="1"/>
            <p:nvPr/>
          </p:nvSpPr>
          <p:spPr>
            <a:xfrm>
              <a:off x="2143453" y="514795"/>
              <a:ext cx="801349" cy="371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b="1" sz="700">
                  <a:solidFill>
                    <a:srgbClr val="0B3550"/>
                  </a:solidFill>
                </a:defRPr>
              </a:lvl1pPr>
            </a:lstStyle>
            <a:p>
              <a:pPr/>
              <a:r>
                <a:t>Requirements analysis</a:t>
              </a:r>
            </a:p>
          </p:txBody>
        </p:sp>
        <p:sp>
          <p:nvSpPr>
            <p:cNvPr id="387" name="Connection Line"/>
            <p:cNvSpPr/>
            <p:nvPr/>
          </p:nvSpPr>
          <p:spPr>
            <a:xfrm>
              <a:off x="635372" y="1250599"/>
              <a:ext cx="1014524" cy="465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12886" y="21580"/>
                    <a:pt x="20086" y="21600"/>
                    <a:pt x="21600" y="61"/>
                  </a:cubicBezTo>
                </a:path>
              </a:pathLst>
            </a:custGeom>
            <a:noFill/>
            <a:ln w="25400" cap="flat">
              <a:solidFill>
                <a:srgbClr val="377B77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  <p:sp>
          <p:nvSpPr>
            <p:cNvPr id="377" name="Google Shape;201;p35"/>
            <p:cNvSpPr txBox="1"/>
            <p:nvPr/>
          </p:nvSpPr>
          <p:spPr>
            <a:xfrm>
              <a:off x="934677" y="1706957"/>
              <a:ext cx="1369557" cy="371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b="1" sz="800">
                  <a:solidFill>
                    <a:srgbClr val="0B3550"/>
                  </a:solidFill>
                </a:defRPr>
              </a:lvl1pPr>
            </a:lstStyle>
            <a:p>
              <a:pPr/>
              <a:r>
                <a:t>I need more information</a:t>
              </a:r>
            </a:p>
          </p:txBody>
        </p:sp>
        <p:pic>
          <p:nvPicPr>
            <p:cNvPr id="378" name="Google Shape;183;p35" descr="Google Shape;183;p3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554837" y="594896"/>
              <a:ext cx="643943" cy="6200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9" name="Google Shape;193;p35"/>
            <p:cNvSpPr/>
            <p:nvPr/>
          </p:nvSpPr>
          <p:spPr>
            <a:xfrm>
              <a:off x="4688477" y="904911"/>
              <a:ext cx="780554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0" name="Google Shape;201;p35"/>
            <p:cNvSpPr txBox="1"/>
            <p:nvPr/>
          </p:nvSpPr>
          <p:spPr>
            <a:xfrm>
              <a:off x="4748355" y="514795"/>
              <a:ext cx="801349" cy="371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noAutofit/>
            </a:bodyPr>
            <a:lstStyle>
              <a:lvl1pPr>
                <a:defRPr b="1" sz="700">
                  <a:solidFill>
                    <a:srgbClr val="0B3550"/>
                  </a:solidFill>
                </a:defRPr>
              </a:lvl1pPr>
            </a:lstStyle>
            <a:p>
              <a:pPr/>
              <a:r>
                <a:t>Formatted requirements</a:t>
              </a:r>
            </a:p>
          </p:txBody>
        </p:sp>
        <p:grpSp>
          <p:nvGrpSpPr>
            <p:cNvPr id="383" name="Google Shape;186;p35"/>
            <p:cNvGrpSpPr/>
            <p:nvPr/>
          </p:nvGrpSpPr>
          <p:grpSpPr>
            <a:xfrm>
              <a:off x="7089720" y="579013"/>
              <a:ext cx="1560802" cy="651797"/>
              <a:chOff x="0" y="-70512"/>
              <a:chExt cx="1560801" cy="651795"/>
            </a:xfrm>
          </p:grpSpPr>
          <p:sp>
            <p:nvSpPr>
              <p:cNvPr id="381" name="Rectangle"/>
              <p:cNvSpPr/>
              <p:nvPr/>
            </p:nvSpPr>
            <p:spPr>
              <a:xfrm>
                <a:off x="0" y="0"/>
                <a:ext cx="1560802" cy="510772"/>
              </a:xfrm>
              <a:prstGeom prst="rect">
                <a:avLst/>
              </a:prstGeom>
              <a:solidFill>
                <a:srgbClr val="75A089"/>
              </a:solidFill>
              <a:ln w="9525" cap="flat">
                <a:solidFill>
                  <a:srgbClr val="067D78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82" name="Processed files"/>
              <p:cNvSpPr txBox="1"/>
              <p:nvPr/>
            </p:nvSpPr>
            <p:spPr>
              <a:xfrm>
                <a:off x="5320" y="-70513"/>
                <a:ext cx="1550161" cy="6517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ctr">
                <a:noAutofit/>
              </a:bodyPr>
              <a:lstStyle>
                <a:lvl1pPr algn="ctr"/>
              </a:lstStyle>
              <a:p>
                <a:pPr/>
                <a:r>
                  <a:t>Processed files</a:t>
                </a:r>
              </a:p>
            </p:txBody>
          </p:sp>
        </p:grpSp>
        <p:sp>
          <p:nvSpPr>
            <p:cNvPr id="384" name="Google Shape;193;p35"/>
            <p:cNvSpPr/>
            <p:nvPr/>
          </p:nvSpPr>
          <p:spPr>
            <a:xfrm>
              <a:off x="6218931" y="904911"/>
              <a:ext cx="780553" cy="1"/>
            </a:xfrm>
            <a:prstGeom prst="line">
              <a:avLst/>
            </a:prstGeom>
            <a:noFill/>
            <a:ln w="28575" cap="flat">
              <a:solidFill>
                <a:srgbClr val="067D78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38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78207" y="166190"/>
              <a:ext cx="949716" cy="10689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453;p46"/>
          <p:cNvSpPr txBox="1"/>
          <p:nvPr>
            <p:ph type="title"/>
          </p:nvPr>
        </p:nvSpPr>
        <p:spPr>
          <a:xfrm>
            <a:off x="403125" y="0"/>
            <a:ext cx="7886401" cy="795902"/>
          </a:xfrm>
          <a:prstGeom prst="rect">
            <a:avLst/>
          </a:prstGeom>
        </p:spPr>
        <p:txBody>
          <a:bodyPr lIns="34275" tIns="34275" rIns="34275" bIns="34275"/>
          <a:lstStyle>
            <a:lvl1pPr algn="l">
              <a:lnSpc>
                <a:spcPct val="90000"/>
              </a:lnSpc>
              <a:defRPr>
                <a:solidFill>
                  <a:srgbClr val="EC7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“Ethical concerns”</a:t>
            </a:r>
          </a:p>
        </p:txBody>
      </p:sp>
      <p:grpSp>
        <p:nvGrpSpPr>
          <p:cNvPr id="428" name="Group"/>
          <p:cNvGrpSpPr/>
          <p:nvPr/>
        </p:nvGrpSpPr>
        <p:grpSpPr>
          <a:xfrm>
            <a:off x="892818" y="64782"/>
            <a:ext cx="5855398" cy="4556955"/>
            <a:chOff x="0" y="0"/>
            <a:chExt cx="5855397" cy="4556954"/>
          </a:xfrm>
        </p:grpSpPr>
        <p:grpSp>
          <p:nvGrpSpPr>
            <p:cNvPr id="426" name="Group"/>
            <p:cNvGrpSpPr/>
            <p:nvPr/>
          </p:nvGrpSpPr>
          <p:grpSpPr>
            <a:xfrm>
              <a:off x="-1" y="-1"/>
              <a:ext cx="5836822" cy="4556955"/>
              <a:chOff x="0" y="-956142"/>
              <a:chExt cx="5836820" cy="4556953"/>
            </a:xfrm>
          </p:grpSpPr>
          <p:pic>
            <p:nvPicPr>
              <p:cNvPr id="390" name="Google Shape;189;p35" descr="Google Shape;189;p35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tretch>
                <a:fillRect/>
              </a:stretch>
            </p:blipFill>
            <p:spPr>
              <a:xfrm>
                <a:off x="1079764" y="529922"/>
                <a:ext cx="1822952" cy="174125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91" name="Cylinder"/>
              <p:cNvSpPr/>
              <p:nvPr/>
            </p:nvSpPr>
            <p:spPr>
              <a:xfrm>
                <a:off x="3238342" y="2670589"/>
                <a:ext cx="704641" cy="9302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21600" fill="norm" stroke="1" extrusionOk="0">
                    <a:moveTo>
                      <a:pt x="9839" y="0"/>
                    </a:moveTo>
                    <a:cubicBezTo>
                      <a:pt x="7321" y="0"/>
                      <a:pt x="4803" y="241"/>
                      <a:pt x="2882" y="724"/>
                    </a:cubicBezTo>
                    <a:cubicBezTo>
                      <a:pt x="-961" y="1689"/>
                      <a:pt x="-961" y="3255"/>
                      <a:pt x="2882" y="4221"/>
                    </a:cubicBezTo>
                    <a:cubicBezTo>
                      <a:pt x="6724" y="5186"/>
                      <a:pt x="12954" y="5186"/>
                      <a:pt x="16796" y="4221"/>
                    </a:cubicBezTo>
                    <a:cubicBezTo>
                      <a:pt x="20639" y="3255"/>
                      <a:pt x="20639" y="1689"/>
                      <a:pt x="16796" y="724"/>
                    </a:cubicBezTo>
                    <a:cubicBezTo>
                      <a:pt x="14875" y="241"/>
                      <a:pt x="12357" y="0"/>
                      <a:pt x="9839" y="0"/>
                    </a:cubicBezTo>
                    <a:close/>
                    <a:moveTo>
                      <a:pt x="0" y="3593"/>
                    </a:moveTo>
                    <a:lnTo>
                      <a:pt x="0" y="18993"/>
                    </a:lnTo>
                    <a:cubicBezTo>
                      <a:pt x="0" y="20356"/>
                      <a:pt x="4405" y="21600"/>
                      <a:pt x="9839" y="21600"/>
                    </a:cubicBezTo>
                    <a:cubicBezTo>
                      <a:pt x="15273" y="21600"/>
                      <a:pt x="19678" y="20356"/>
                      <a:pt x="19678" y="18993"/>
                    </a:cubicBezTo>
                    <a:lnTo>
                      <a:pt x="19678" y="3593"/>
                    </a:lnTo>
                    <a:cubicBezTo>
                      <a:pt x="18279" y="4621"/>
                      <a:pt x="14401" y="5357"/>
                      <a:pt x="9839" y="5357"/>
                    </a:cubicBezTo>
                    <a:cubicBezTo>
                      <a:pt x="5277" y="5357"/>
                      <a:pt x="1399" y="4621"/>
                      <a:pt x="0" y="359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395" name="Google Shape;200;p35"/>
              <p:cNvGrpSpPr/>
              <p:nvPr/>
            </p:nvGrpSpPr>
            <p:grpSpPr>
              <a:xfrm>
                <a:off x="178374" y="755153"/>
                <a:ext cx="312027" cy="312028"/>
                <a:chOff x="0" y="0"/>
                <a:chExt cx="312026" cy="312026"/>
              </a:xfrm>
            </p:grpSpPr>
            <p:sp>
              <p:nvSpPr>
                <p:cNvPr id="392" name="Circle"/>
                <p:cNvSpPr/>
                <p:nvPr/>
              </p:nvSpPr>
              <p:spPr>
                <a:xfrm>
                  <a:off x="-1" y="-1"/>
                  <a:ext cx="312028" cy="312028"/>
                </a:xfrm>
                <a:prstGeom prst="ellipse">
                  <a:avLst/>
                </a:prstGeom>
                <a:solidFill>
                  <a:srgbClr val="FFD96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393" name="Shape"/>
                <p:cNvSpPr/>
                <p:nvPr/>
              </p:nvSpPr>
              <p:spPr>
                <a:xfrm>
                  <a:off x="89779" y="93101"/>
                  <a:ext cx="132468" cy="325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0" y="10800"/>
                      </a:moveTo>
                      <a:cubicBezTo>
                        <a:pt x="0" y="4835"/>
                        <a:pt x="1186" y="0"/>
                        <a:pt x="2650" y="0"/>
                      </a:cubicBezTo>
                      <a:cubicBezTo>
                        <a:pt x="4113" y="0"/>
                        <a:pt x="5300" y="4835"/>
                        <a:pt x="5300" y="10800"/>
                      </a:cubicBezTo>
                      <a:cubicBezTo>
                        <a:pt x="5300" y="16765"/>
                        <a:pt x="4113" y="21600"/>
                        <a:pt x="2650" y="21600"/>
                      </a:cubicBezTo>
                      <a:cubicBezTo>
                        <a:pt x="1186" y="21600"/>
                        <a:pt x="0" y="16765"/>
                        <a:pt x="0" y="10800"/>
                      </a:cubicBezTo>
                      <a:moveTo>
                        <a:pt x="16300" y="10800"/>
                      </a:moveTo>
                      <a:cubicBezTo>
                        <a:pt x="16300" y="4835"/>
                        <a:pt x="17487" y="0"/>
                        <a:pt x="18950" y="0"/>
                      </a:cubicBezTo>
                      <a:cubicBezTo>
                        <a:pt x="20414" y="0"/>
                        <a:pt x="21600" y="4835"/>
                        <a:pt x="21600" y="10800"/>
                      </a:cubicBezTo>
                      <a:cubicBezTo>
                        <a:pt x="21600" y="16765"/>
                        <a:pt x="20414" y="21600"/>
                        <a:pt x="18950" y="21600"/>
                      </a:cubicBezTo>
                      <a:cubicBezTo>
                        <a:pt x="17487" y="21600"/>
                        <a:pt x="16300" y="16765"/>
                        <a:pt x="16300" y="10800"/>
                      </a:cubicBezTo>
                    </a:path>
                  </a:pathLst>
                </a:custGeom>
                <a:solidFill>
                  <a:srgbClr val="000000">
                    <a:alpha val="20000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394" name="Shape"/>
                <p:cNvSpPr/>
                <p:nvPr/>
              </p:nvSpPr>
              <p:spPr>
                <a:xfrm>
                  <a:off x="-1" y="-1"/>
                  <a:ext cx="312028" cy="312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6215" y="7570"/>
                      </a:moveTo>
                      <a:cubicBezTo>
                        <a:pt x="6215" y="6949"/>
                        <a:pt x="6719" y="6445"/>
                        <a:pt x="7340" y="6445"/>
                      </a:cubicBezTo>
                      <a:cubicBezTo>
                        <a:pt x="7961" y="6445"/>
                        <a:pt x="8465" y="6949"/>
                        <a:pt x="8465" y="7570"/>
                      </a:cubicBezTo>
                      <a:cubicBezTo>
                        <a:pt x="8465" y="8191"/>
                        <a:pt x="7961" y="8695"/>
                        <a:pt x="7340" y="8695"/>
                      </a:cubicBezTo>
                      <a:cubicBezTo>
                        <a:pt x="6719" y="8695"/>
                        <a:pt x="6215" y="8191"/>
                        <a:pt x="6215" y="7570"/>
                      </a:cubicBezTo>
                      <a:moveTo>
                        <a:pt x="13135" y="7570"/>
                      </a:moveTo>
                      <a:cubicBezTo>
                        <a:pt x="13135" y="6949"/>
                        <a:pt x="13639" y="6445"/>
                        <a:pt x="14260" y="6445"/>
                      </a:cubicBezTo>
                      <a:cubicBezTo>
                        <a:pt x="14881" y="6445"/>
                        <a:pt x="15385" y="6949"/>
                        <a:pt x="15385" y="7570"/>
                      </a:cubicBezTo>
                      <a:cubicBezTo>
                        <a:pt x="15385" y="8191"/>
                        <a:pt x="14881" y="8695"/>
                        <a:pt x="14260" y="8695"/>
                      </a:cubicBezTo>
                      <a:cubicBezTo>
                        <a:pt x="13639" y="8695"/>
                        <a:pt x="13135" y="8191"/>
                        <a:pt x="13135" y="7570"/>
                      </a:cubicBezTo>
                      <a:moveTo>
                        <a:pt x="4946" y="15510"/>
                      </a:moveTo>
                      <a:cubicBezTo>
                        <a:pt x="8849" y="18190"/>
                        <a:pt x="12747" y="18190"/>
                        <a:pt x="16640" y="15510"/>
                      </a:cubicBezTo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</a:path>
                  </a:pathLst>
                </a:custGeom>
                <a:noFill/>
                <a:ln w="9525" cap="flat">
                  <a:solidFill>
                    <a:srgbClr val="BF9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/>
                </a:p>
              </p:txBody>
            </p:sp>
          </p:grpSp>
          <p:sp>
            <p:nvSpPr>
              <p:cNvPr id="396" name="Google Shape;201;p35"/>
              <p:cNvSpPr txBox="1"/>
              <p:nvPr/>
            </p:nvSpPr>
            <p:spPr>
              <a:xfrm>
                <a:off x="0" y="1100935"/>
                <a:ext cx="801348" cy="51177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24" tIns="91424" rIns="91424" bIns="91424" numCol="1" anchor="t">
                <a:noAutofit/>
              </a:bodyPr>
              <a:lstStyle>
                <a:lvl1pPr>
                  <a:defRPr sz="1000">
                    <a:solidFill>
                      <a:srgbClr val="0B3550"/>
                    </a:solidFill>
                  </a:defRPr>
                </a:lvl1pPr>
              </a:lstStyle>
              <a:p>
                <a:pPr/>
                <a:r>
                  <a:t>Designer User</a:t>
                </a:r>
              </a:p>
            </p:txBody>
          </p:sp>
          <p:sp>
            <p:nvSpPr>
              <p:cNvPr id="397" name="Google Shape;193;p35"/>
              <p:cNvSpPr/>
              <p:nvPr/>
            </p:nvSpPr>
            <p:spPr>
              <a:xfrm>
                <a:off x="745870" y="1279052"/>
                <a:ext cx="312027" cy="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398" name="Model registry"/>
              <p:cNvSpPr txBox="1"/>
              <p:nvPr/>
            </p:nvSpPr>
            <p:spPr>
              <a:xfrm>
                <a:off x="3189988" y="3077028"/>
                <a:ext cx="801349" cy="300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100"/>
                </a:lvl1pPr>
              </a:lstStyle>
              <a:p>
                <a:pPr/>
                <a:r>
                  <a:t>Model registry</a:t>
                </a:r>
              </a:p>
            </p:txBody>
          </p:sp>
          <p:sp>
            <p:nvSpPr>
              <p:cNvPr id="399" name="Google Shape;193;p35"/>
              <p:cNvSpPr/>
              <p:nvPr/>
            </p:nvSpPr>
            <p:spPr>
              <a:xfrm>
                <a:off x="2924583" y="1279052"/>
                <a:ext cx="312027" cy="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pic>
            <p:nvPicPr>
              <p:cNvPr id="400" name="Image" descr="Image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3183013" y="822343"/>
                <a:ext cx="949716" cy="106895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1" name="Google Shape;193;p35"/>
              <p:cNvSpPr/>
              <p:nvPr/>
            </p:nvSpPr>
            <p:spPr>
              <a:xfrm>
                <a:off x="4012981" y="1279052"/>
                <a:ext cx="730042" cy="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02" name="Chosen task"/>
              <p:cNvSpPr txBox="1"/>
              <p:nvPr/>
            </p:nvSpPr>
            <p:spPr>
              <a:xfrm>
                <a:off x="3747798" y="2168559"/>
                <a:ext cx="536681" cy="2752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Chosen task</a:t>
                </a:r>
              </a:p>
            </p:txBody>
          </p:sp>
          <p:pic>
            <p:nvPicPr>
              <p:cNvPr id="403" name="Google Shape;183;p35" descr="Google Shape;183;p35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4795461" y="969036"/>
                <a:ext cx="643944" cy="62003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406" name="Google Shape;186;p35"/>
              <p:cNvGrpSpPr/>
              <p:nvPr/>
            </p:nvGrpSpPr>
            <p:grpSpPr>
              <a:xfrm>
                <a:off x="4722232" y="0"/>
                <a:ext cx="926503" cy="386911"/>
                <a:chOff x="0" y="-41856"/>
                <a:chExt cx="926501" cy="386910"/>
              </a:xfrm>
            </p:grpSpPr>
            <p:sp>
              <p:nvSpPr>
                <p:cNvPr id="404" name="Rectangle"/>
                <p:cNvSpPr/>
                <p:nvPr/>
              </p:nvSpPr>
              <p:spPr>
                <a:xfrm>
                  <a:off x="0" y="0"/>
                  <a:ext cx="926502" cy="303198"/>
                </a:xfrm>
                <a:prstGeom prst="rect">
                  <a:avLst/>
                </a:prstGeom>
                <a:solidFill>
                  <a:srgbClr val="75A089"/>
                </a:solidFill>
                <a:ln w="9525" cap="flat">
                  <a:solidFill>
                    <a:srgbClr val="067D78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405" name="XAI module"/>
                <p:cNvSpPr txBox="1"/>
                <p:nvPr/>
              </p:nvSpPr>
              <p:spPr>
                <a:xfrm>
                  <a:off x="3158" y="-41857"/>
                  <a:ext cx="920186" cy="38691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91424" tIns="91424" rIns="91424" bIns="91424" numCol="1" anchor="ctr">
                  <a:noAutofit/>
                </a:bodyPr>
                <a:lstStyle>
                  <a:lvl1pPr algn="ctr">
                    <a:defRPr sz="800"/>
                  </a:lvl1pPr>
                </a:lstStyle>
                <a:p>
                  <a:pPr/>
                  <a:r>
                    <a:t>XAI module</a:t>
                  </a:r>
                </a:p>
              </p:txBody>
            </p:sp>
          </p:grpSp>
          <p:sp>
            <p:nvSpPr>
              <p:cNvPr id="407" name="Google Shape;193;p35"/>
              <p:cNvSpPr/>
              <p:nvPr/>
            </p:nvSpPr>
            <p:spPr>
              <a:xfrm flipV="1">
                <a:off x="3590662" y="1838382"/>
                <a:ext cx="1" cy="79590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08" name="Google Shape;193;p35"/>
              <p:cNvSpPr/>
              <p:nvPr/>
            </p:nvSpPr>
            <p:spPr>
              <a:xfrm>
                <a:off x="3706789" y="1838382"/>
                <a:ext cx="1" cy="79590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grpSp>
            <p:nvGrpSpPr>
              <p:cNvPr id="411" name="Google Shape;186;p35"/>
              <p:cNvGrpSpPr/>
              <p:nvPr/>
            </p:nvGrpSpPr>
            <p:grpSpPr>
              <a:xfrm>
                <a:off x="4504684" y="2825612"/>
                <a:ext cx="1225498" cy="511772"/>
                <a:chOff x="0" y="-55364"/>
                <a:chExt cx="1225496" cy="511771"/>
              </a:xfrm>
            </p:grpSpPr>
            <p:sp>
              <p:nvSpPr>
                <p:cNvPr id="409" name="Rectangle"/>
                <p:cNvSpPr/>
                <p:nvPr/>
              </p:nvSpPr>
              <p:spPr>
                <a:xfrm>
                  <a:off x="0" y="0"/>
                  <a:ext cx="1225497" cy="401043"/>
                </a:xfrm>
                <a:prstGeom prst="rect">
                  <a:avLst/>
                </a:prstGeom>
                <a:solidFill>
                  <a:srgbClr val="75A089"/>
                </a:solidFill>
                <a:ln w="9525" cap="flat">
                  <a:solidFill>
                    <a:srgbClr val="067D78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algn="ctr"/>
                </a:p>
              </p:txBody>
            </p:sp>
            <p:sp>
              <p:nvSpPr>
                <p:cNvPr id="410" name="Ethical information for the user"/>
                <p:cNvSpPr txBox="1"/>
                <p:nvPr/>
              </p:nvSpPr>
              <p:spPr>
                <a:xfrm>
                  <a:off x="4177" y="-55365"/>
                  <a:ext cx="1217143" cy="51177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91424" tIns="91424" rIns="91424" bIns="91424" numCol="1" anchor="ctr">
                  <a:noAutofit/>
                </a:bodyPr>
                <a:lstStyle>
                  <a:lvl1pPr algn="ctr">
                    <a:defRPr sz="800"/>
                  </a:lvl1pPr>
                </a:lstStyle>
                <a:p>
                  <a:pPr/>
                  <a:r>
                    <a:t>Ethical information for the user</a:t>
                  </a:r>
                </a:p>
              </p:txBody>
            </p:sp>
          </p:grpSp>
          <p:sp>
            <p:nvSpPr>
              <p:cNvPr id="412" name="Ethically informed model"/>
              <p:cNvSpPr txBox="1"/>
              <p:nvPr/>
            </p:nvSpPr>
            <p:spPr>
              <a:xfrm>
                <a:off x="2924583" y="2159251"/>
                <a:ext cx="801348" cy="414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000"/>
                </a:lvl1pPr>
              </a:lstStyle>
              <a:p>
                <a:pPr/>
                <a:r>
                  <a:t>Ethically informed model</a:t>
                </a:r>
              </a:p>
            </p:txBody>
          </p:sp>
          <p:sp>
            <p:nvSpPr>
              <p:cNvPr id="413" name="Google Shape;193;p35"/>
              <p:cNvSpPr/>
              <p:nvPr/>
            </p:nvSpPr>
            <p:spPr>
              <a:xfrm flipV="1">
                <a:off x="3869682" y="211074"/>
                <a:ext cx="785798" cy="785798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4" name="Google Shape;193;p35"/>
              <p:cNvSpPr/>
              <p:nvPr/>
            </p:nvSpPr>
            <p:spPr>
              <a:xfrm>
                <a:off x="5117432" y="378902"/>
                <a:ext cx="1" cy="598143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5" name="Google Shape;193;p35"/>
              <p:cNvSpPr/>
              <p:nvPr/>
            </p:nvSpPr>
            <p:spPr>
              <a:xfrm>
                <a:off x="3998311" y="3135700"/>
                <a:ext cx="463745" cy="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6" name="Google Shape;193;p35"/>
              <p:cNvSpPr/>
              <p:nvPr/>
            </p:nvSpPr>
            <p:spPr>
              <a:xfrm flipV="1">
                <a:off x="5117432" y="1638863"/>
                <a:ext cx="1" cy="1194939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7" name="Cylinder"/>
              <p:cNvSpPr/>
              <p:nvPr/>
            </p:nvSpPr>
            <p:spPr>
              <a:xfrm>
                <a:off x="3224473" y="-956143"/>
                <a:ext cx="704642" cy="9302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21600" fill="norm" stroke="1" extrusionOk="0">
                    <a:moveTo>
                      <a:pt x="9839" y="0"/>
                    </a:moveTo>
                    <a:cubicBezTo>
                      <a:pt x="7321" y="0"/>
                      <a:pt x="4803" y="241"/>
                      <a:pt x="2882" y="724"/>
                    </a:cubicBezTo>
                    <a:cubicBezTo>
                      <a:pt x="-961" y="1689"/>
                      <a:pt x="-961" y="3255"/>
                      <a:pt x="2882" y="4221"/>
                    </a:cubicBezTo>
                    <a:cubicBezTo>
                      <a:pt x="6724" y="5186"/>
                      <a:pt x="12954" y="5186"/>
                      <a:pt x="16796" y="4221"/>
                    </a:cubicBezTo>
                    <a:cubicBezTo>
                      <a:pt x="20639" y="3255"/>
                      <a:pt x="20639" y="1689"/>
                      <a:pt x="16796" y="724"/>
                    </a:cubicBezTo>
                    <a:cubicBezTo>
                      <a:pt x="14875" y="241"/>
                      <a:pt x="12357" y="0"/>
                      <a:pt x="9839" y="0"/>
                    </a:cubicBezTo>
                    <a:close/>
                    <a:moveTo>
                      <a:pt x="0" y="3593"/>
                    </a:moveTo>
                    <a:lnTo>
                      <a:pt x="0" y="18993"/>
                    </a:lnTo>
                    <a:cubicBezTo>
                      <a:pt x="0" y="20356"/>
                      <a:pt x="4405" y="21600"/>
                      <a:pt x="9839" y="21600"/>
                    </a:cubicBezTo>
                    <a:cubicBezTo>
                      <a:pt x="15273" y="21600"/>
                      <a:pt x="19678" y="20356"/>
                      <a:pt x="19678" y="18993"/>
                    </a:cubicBezTo>
                    <a:lnTo>
                      <a:pt x="19678" y="3593"/>
                    </a:lnTo>
                    <a:cubicBezTo>
                      <a:pt x="18279" y="4621"/>
                      <a:pt x="14401" y="5357"/>
                      <a:pt x="9839" y="5357"/>
                    </a:cubicBezTo>
                    <a:cubicBezTo>
                      <a:pt x="5277" y="5357"/>
                      <a:pt x="1399" y="4621"/>
                      <a:pt x="0" y="359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5400" cap="flat">
                <a:solidFill>
                  <a:schemeClr val="accent1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18" name="Dataset registry"/>
              <p:cNvSpPr txBox="1"/>
              <p:nvPr/>
            </p:nvSpPr>
            <p:spPr>
              <a:xfrm>
                <a:off x="3176120" y="-549703"/>
                <a:ext cx="801348" cy="3002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100"/>
                </a:lvl1pPr>
              </a:lstStyle>
              <a:p>
                <a:pPr/>
                <a:r>
                  <a:t>Dataset registry</a:t>
                </a:r>
              </a:p>
            </p:txBody>
          </p:sp>
          <p:sp>
            <p:nvSpPr>
              <p:cNvPr id="419" name="Chosen data type"/>
              <p:cNvSpPr txBox="1"/>
              <p:nvPr/>
            </p:nvSpPr>
            <p:spPr>
              <a:xfrm>
                <a:off x="3687098" y="55832"/>
                <a:ext cx="536681" cy="2752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Chosen data type</a:t>
                </a:r>
              </a:p>
            </p:txBody>
          </p:sp>
          <p:sp>
            <p:nvSpPr>
              <p:cNvPr id="420" name="Google Shape;193;p35"/>
              <p:cNvSpPr/>
              <p:nvPr/>
            </p:nvSpPr>
            <p:spPr>
              <a:xfrm flipV="1">
                <a:off x="3562925" y="-8335"/>
                <a:ext cx="1" cy="79590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1" name="Google Shape;193;p35"/>
              <p:cNvSpPr/>
              <p:nvPr/>
            </p:nvSpPr>
            <p:spPr>
              <a:xfrm>
                <a:off x="3679052" y="-8335"/>
                <a:ext cx="1" cy="795901"/>
              </a:xfrm>
              <a:prstGeom prst="line">
                <a:avLst/>
              </a:prstGeom>
              <a:noFill/>
              <a:ln w="28575" cap="flat">
                <a:solidFill>
                  <a:srgbClr val="067D78"/>
                </a:solidFill>
                <a:prstDash val="solid"/>
                <a:round/>
                <a:tail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422" name="Data type ethics"/>
              <p:cNvSpPr txBox="1"/>
              <p:nvPr/>
            </p:nvSpPr>
            <p:spPr>
              <a:xfrm>
                <a:off x="2819641" y="55832"/>
                <a:ext cx="801349" cy="2752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ctr">
                  <a:defRPr sz="1000"/>
                </a:lvl1pPr>
              </a:lstStyle>
              <a:p>
                <a:pPr/>
                <a:r>
                  <a:t>Data type ethics</a:t>
                </a:r>
              </a:p>
            </p:txBody>
          </p:sp>
          <p:sp>
            <p:nvSpPr>
              <p:cNvPr id="423" name="Model"/>
              <p:cNvSpPr txBox="1"/>
              <p:nvPr/>
            </p:nvSpPr>
            <p:spPr>
              <a:xfrm rot="18900000">
                <a:off x="3874798" y="540350"/>
                <a:ext cx="536681" cy="135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Model</a:t>
                </a:r>
              </a:p>
            </p:txBody>
          </p:sp>
          <p:sp>
            <p:nvSpPr>
              <p:cNvPr id="424" name="Model"/>
              <p:cNvSpPr txBox="1"/>
              <p:nvPr/>
            </p:nvSpPr>
            <p:spPr>
              <a:xfrm>
                <a:off x="4195754" y="1110682"/>
                <a:ext cx="536681" cy="1355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Model</a:t>
                </a:r>
              </a:p>
            </p:txBody>
          </p:sp>
          <p:sp>
            <p:nvSpPr>
              <p:cNvPr id="425" name="Dashboard"/>
              <p:cNvSpPr txBox="1"/>
              <p:nvPr/>
            </p:nvSpPr>
            <p:spPr>
              <a:xfrm>
                <a:off x="5173205" y="610200"/>
                <a:ext cx="663616" cy="1355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1000"/>
                </a:lvl1pPr>
              </a:lstStyle>
              <a:p>
                <a:pPr/>
                <a:r>
                  <a:t>Dashboard</a:t>
                </a:r>
              </a:p>
            </p:txBody>
          </p:sp>
        </p:grpSp>
        <p:sp>
          <p:nvSpPr>
            <p:cNvPr id="427" name="Information"/>
            <p:cNvSpPr txBox="1"/>
            <p:nvPr/>
          </p:nvSpPr>
          <p:spPr>
            <a:xfrm>
              <a:off x="5173550" y="2994588"/>
              <a:ext cx="681848" cy="1355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/>
              </a:lvl1pPr>
            </a:lstStyle>
            <a:p>
              <a:pPr/>
              <a:r>
                <a:t>Information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Question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Questions?</a:t>
            </a:r>
          </a:p>
        </p:txBody>
      </p:sp>
      <p:pic>
        <p:nvPicPr>
          <p:cNvPr id="431" name="bowing-thank-you.gif" descr="bowing-thank-you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71309" y="1937379"/>
            <a:ext cx="2794001" cy="2095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