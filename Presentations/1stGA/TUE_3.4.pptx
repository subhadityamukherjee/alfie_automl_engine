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2;p13"/>
          <p:cNvSpPr txBox="1"/>
          <p:nvPr/>
        </p:nvSpPr>
        <p:spPr>
          <a:xfrm>
            <a:off x="715229" y="4679100"/>
            <a:ext cx="20876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0057A8"/>
                </a:solid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ALFIE has received </a:t>
            </a:r>
            <a:r>
              <a:rPr>
                <a:solidFill>
                  <a:srgbClr val="114A92"/>
                </a:solidFill>
              </a:rPr>
              <a:t>funding</a:t>
            </a:r>
            <a:r>
              <a:t>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08" name="Google Shape;53;p13" descr="Google Shape;53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279" y="4662899"/>
            <a:ext cx="520831" cy="343711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grpSp>
        <p:nvGrpSpPr>
          <p:cNvPr id="111" name="Google Shape;54;p13"/>
          <p:cNvGrpSpPr/>
          <p:nvPr/>
        </p:nvGrpSpPr>
        <p:grpSpPr>
          <a:xfrm>
            <a:off x="-1" y="1161809"/>
            <a:ext cx="9143822" cy="343711"/>
            <a:chOff x="0" y="0"/>
            <a:chExt cx="9143820" cy="343710"/>
          </a:xfrm>
        </p:grpSpPr>
        <p:sp>
          <p:nvSpPr>
            <p:cNvPr id="109" name="Rectangle"/>
            <p:cNvSpPr/>
            <p:nvPr/>
          </p:nvSpPr>
          <p:spPr>
            <a:xfrm>
              <a:off x="-1" y="-1"/>
              <a:ext cx="9143822" cy="343712"/>
            </a:xfrm>
            <a:prstGeom prst="rect">
              <a:avLst/>
            </a:prstGeom>
            <a:solidFill>
              <a:srgbClr val="067E7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" name="Assessment of Learning technologies and Frameworks for Intelligent and Ethical AI"/>
            <p:cNvSpPr txBox="1"/>
            <p:nvPr/>
          </p:nvSpPr>
          <p:spPr>
            <a:xfrm>
              <a:off x="33749" y="30155"/>
              <a:ext cx="9076322" cy="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3749" tIns="33749" rIns="33749" bIns="33749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pPr/>
              <a:r>
                <a:t>Assessment of Learning technologies and Frameworks for Intelligent and Ethical AI</a:t>
              </a:r>
            </a:p>
          </p:txBody>
        </p:sp>
      </p:grpSp>
      <p:pic>
        <p:nvPicPr>
          <p:cNvPr id="112" name="Google Shape;55;p13" descr="Google Shape;55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94920" y="2743200"/>
            <a:ext cx="2247481" cy="2247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Google Shape;56;p13" descr="Google Shape;56;p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638439" y="213299"/>
            <a:ext cx="3867211" cy="90855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2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24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itle Text"/>
          <p:cNvSpPr txBox="1"/>
          <p:nvPr>
            <p:ph type="title"/>
          </p:nvPr>
        </p:nvSpPr>
        <p:spPr>
          <a:xfrm>
            <a:off x="457109" y="205199"/>
            <a:ext cx="8229332" cy="858602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7" name="Body Level One…"/>
          <p:cNvSpPr txBox="1"/>
          <p:nvPr>
            <p:ph type="body" idx="1"/>
          </p:nvPr>
        </p:nvSpPr>
        <p:spPr>
          <a:xfrm>
            <a:off x="457109" y="1203390"/>
            <a:ext cx="8229332" cy="2982960"/>
          </a:xfrm>
          <a:prstGeom prst="rect">
            <a:avLst/>
          </a:prstGeom>
        </p:spPr>
        <p:txBody>
          <a:bodyPr lIns="0" tIns="0" rIns="0" bIns="0"/>
          <a:lstStyle>
            <a:lvl1pPr indent="-31750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1pPr>
            <a:lvl2pPr marL="967316" indent="-370416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2pPr>
            <a:lvl3pPr marL="1498600" indent="-44450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3pPr>
            <a:lvl4pPr marL="1987550" indent="-47625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4pPr>
            <a:lvl5pPr marL="2444750" indent="-47625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8909446" y="4864960"/>
            <a:ext cx="185505" cy="195551"/>
          </a:xfrm>
          <a:prstGeom prst="rect">
            <a:avLst/>
          </a:prstGeom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6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38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itle Text"/>
          <p:cNvSpPr txBox="1"/>
          <p:nvPr>
            <p:ph type="title"/>
          </p:nvPr>
        </p:nvSpPr>
        <p:spPr>
          <a:xfrm>
            <a:off x="1645294" y="334143"/>
            <a:ext cx="5853302" cy="606600"/>
          </a:xfrm>
          <a:prstGeom prst="rect">
            <a:avLst/>
          </a:prstGeom>
        </p:spPr>
        <p:txBody>
          <a:bodyPr lIns="26775" tIns="26775" rIns="26775" bIns="26775" anchor="ctr"/>
          <a:lstStyle>
            <a:lvl1pPr>
              <a:defRPr sz="39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1" name="Body Level One…"/>
          <p:cNvSpPr txBox="1"/>
          <p:nvPr>
            <p:ph type="body" idx="1"/>
          </p:nvPr>
        </p:nvSpPr>
        <p:spPr>
          <a:xfrm>
            <a:off x="1645294" y="1014275"/>
            <a:ext cx="5853302" cy="3862800"/>
          </a:xfrm>
          <a:prstGeom prst="rect">
            <a:avLst/>
          </a:prstGeom>
        </p:spPr>
        <p:txBody>
          <a:bodyPr lIns="26775" tIns="26775" rIns="26775" bIns="26775" anchor="ctr"/>
          <a:lstStyle>
            <a:lvl1pPr indent="-3810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91960" indent="-43951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511829" indent="-476779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005445" indent="-50049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628900" indent="-6477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31442" y="4938117"/>
            <a:ext cx="158922" cy="167851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0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52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itle Text"/>
          <p:cNvSpPr txBox="1"/>
          <p:nvPr>
            <p:ph type="title"/>
          </p:nvPr>
        </p:nvSpPr>
        <p:spPr>
          <a:xfrm>
            <a:off x="476250" y="304800"/>
            <a:ext cx="8191500" cy="5841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lnSpc>
                <a:spcPct val="80000"/>
              </a:lnSpc>
              <a:defRPr sz="3200">
                <a:solidFill>
                  <a:srgbClr val="0B355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sz="quarter" idx="1"/>
          </p:nvPr>
        </p:nvSpPr>
        <p:spPr>
          <a:xfrm>
            <a:off x="476250" y="800100"/>
            <a:ext cx="8191500" cy="381000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B3550"/>
                </a:solidFill>
              </a:defRPr>
            </a:lvl1pPr>
            <a:lvl2pPr marL="945444" indent="-310444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2pPr>
            <a:lvl3pPr marL="1464733" indent="-372533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3pPr>
            <a:lvl4pPr marL="1948542" indent="-399142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4pPr>
            <a:lvl5pPr marL="2405742" indent="-399142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Google Shape;81;p18"/>
          <p:cNvSpPr txBox="1"/>
          <p:nvPr>
            <p:ph type="body" idx="21"/>
          </p:nvPr>
        </p:nvSpPr>
        <p:spPr>
          <a:xfrm>
            <a:off x="476250" y="1600200"/>
            <a:ext cx="8191500" cy="3162300"/>
          </a:xfrm>
          <a:prstGeom prst="rect">
            <a:avLst/>
          </a:prstGeom>
        </p:spPr>
        <p:txBody>
          <a:bodyPr lIns="19050" tIns="19050" rIns="19050" bIns="19050"/>
          <a:lstStyle/>
          <a:p>
            <a:pPr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Char char="•"/>
              <a:defRPr>
                <a:solidFill>
                  <a:srgbClr val="0B3550"/>
                </a:solidFill>
              </a:defRPr>
            </a:pPr>
          </a:p>
        </p:txBody>
      </p:sp>
      <p:sp>
        <p:nvSpPr>
          <p:cNvPr id="157" name="Slide Number"/>
          <p:cNvSpPr txBox="1"/>
          <p:nvPr>
            <p:ph type="sldNum" sz="quarter" idx="2"/>
          </p:nvPr>
        </p:nvSpPr>
        <p:spPr>
          <a:xfrm>
            <a:off x="4487703" y="4917998"/>
            <a:ext cx="163812" cy="149077"/>
          </a:xfrm>
          <a:prstGeom prst="rect">
            <a:avLst/>
          </a:prstGeom>
        </p:spPr>
        <p:txBody>
          <a:bodyPr lIns="19050" tIns="19050" rIns="19050" bIns="19050" anchor="b">
            <a:spAutoFit/>
          </a:bodyPr>
          <a:lstStyle>
            <a:lvl1pPr algn="ctr">
              <a:defRPr sz="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5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67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7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79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itle Text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2" name="Body Level One…"/>
          <p:cNvSpPr txBox="1"/>
          <p:nvPr>
            <p:ph type="body" idx="1"/>
          </p:nvPr>
        </p:nvSpPr>
        <p:spPr>
          <a:xfrm>
            <a:off x="633412" y="1181100"/>
            <a:ext cx="7877101" cy="3486300"/>
          </a:xfrm>
          <a:prstGeom prst="rect">
            <a:avLst/>
          </a:prstGeom>
        </p:spPr>
        <p:txBody>
          <a:bodyPr lIns="19050" tIns="19050" rIns="19050" bIns="19050" anchor="ctr"/>
          <a:lstStyle>
            <a:lvl1pPr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1pPr>
            <a:lvl2pPr marL="9144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2pPr>
            <a:lvl3pPr marL="13716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3pPr>
            <a:lvl4pPr marL="18288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4pPr>
            <a:lvl5pPr marL="22860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1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93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itle Text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4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206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itle Text"/>
          <p:cNvSpPr txBox="1"/>
          <p:nvPr>
            <p:ph type="title"/>
          </p:nvPr>
        </p:nvSpPr>
        <p:spPr>
          <a:xfrm>
            <a:off x="1645294" y="334143"/>
            <a:ext cx="5853302" cy="606600"/>
          </a:xfrm>
          <a:prstGeom prst="rect">
            <a:avLst/>
          </a:prstGeom>
        </p:spPr>
        <p:txBody>
          <a:bodyPr lIns="26775" tIns="26775" rIns="26775" bIns="26775" anchor="ctr"/>
          <a:lstStyle>
            <a:lvl1pPr>
              <a:defRPr sz="39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9" name="Body Level One…"/>
          <p:cNvSpPr txBox="1"/>
          <p:nvPr>
            <p:ph type="body" idx="1"/>
          </p:nvPr>
        </p:nvSpPr>
        <p:spPr>
          <a:xfrm>
            <a:off x="1645294" y="1014275"/>
            <a:ext cx="5853302" cy="3862800"/>
          </a:xfrm>
          <a:prstGeom prst="rect">
            <a:avLst/>
          </a:prstGeom>
        </p:spPr>
        <p:txBody>
          <a:bodyPr lIns="26775" tIns="26775" rIns="26775" bIns="26775" anchor="ctr"/>
          <a:lstStyle>
            <a:lvl1pPr indent="-3810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1pPr>
            <a:lvl2pPr marL="991960" indent="-43951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2pPr>
            <a:lvl3pPr marL="1511829" indent="-476779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3pPr>
            <a:lvl4pPr marL="2005445" indent="-50049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4pPr>
            <a:lvl5pPr marL="2628900" indent="-6477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0" name="Slide Number"/>
          <p:cNvSpPr txBox="1"/>
          <p:nvPr>
            <p:ph type="sldNum" sz="quarter" idx="2"/>
          </p:nvPr>
        </p:nvSpPr>
        <p:spPr>
          <a:xfrm>
            <a:off x="1231442" y="4938117"/>
            <a:ext cx="158922" cy="167851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8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220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itle Text"/>
          <p:cNvSpPr txBox="1"/>
          <p:nvPr>
            <p:ph type="title"/>
          </p:nvPr>
        </p:nvSpPr>
        <p:spPr>
          <a:xfrm>
            <a:off x="1812725" y="863946"/>
            <a:ext cx="5518501" cy="1741201"/>
          </a:xfrm>
          <a:prstGeom prst="rect">
            <a:avLst/>
          </a:prstGeom>
        </p:spPr>
        <p:txBody>
          <a:bodyPr lIns="26775" tIns="26775" rIns="26775" bIns="26775" anchor="b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3" name="Body Level One…"/>
          <p:cNvSpPr txBox="1"/>
          <p:nvPr>
            <p:ph type="body" sz="quarter" idx="1"/>
          </p:nvPr>
        </p:nvSpPr>
        <p:spPr>
          <a:xfrm>
            <a:off x="1812725" y="2658814"/>
            <a:ext cx="5518501" cy="596101"/>
          </a:xfrm>
          <a:prstGeom prst="rect">
            <a:avLst/>
          </a:prstGeom>
        </p:spPr>
        <p:txBody>
          <a:bodyPr lIns="26775" tIns="26775" rIns="26775" bIns="26775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xfrm>
            <a:off x="4480624" y="4902398"/>
            <a:ext cx="179230" cy="177603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105;p24" descr="Google Shape;105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0820" y="962820"/>
            <a:ext cx="2516130" cy="59103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8726116" y="4797189"/>
            <a:ext cx="185505" cy="195551"/>
          </a:xfrm>
          <a:prstGeom prst="rect">
            <a:avLst/>
          </a:prstGeom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0B35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110;p26" descr="Google Shape;110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59159" y="458999"/>
            <a:ext cx="4225232" cy="4225232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tif"/><Relationship Id="rId3" Type="http://schemas.openxmlformats.org/officeDocument/2006/relationships/image" Target="../media/image1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118;p28"/>
          <p:cNvSpPr txBox="1"/>
          <p:nvPr>
            <p:ph type="title" idx="4294967295"/>
          </p:nvPr>
        </p:nvSpPr>
        <p:spPr>
          <a:xfrm>
            <a:off x="1142909" y="1584899"/>
            <a:ext cx="6857732" cy="1047330"/>
          </a:xfrm>
          <a:prstGeom prst="rect">
            <a:avLst/>
          </a:prstGeom>
        </p:spPr>
        <p:txBody>
          <a:bodyPr lIns="34275" tIns="34275" rIns="34275" bIns="34275" anchor="ctr"/>
          <a:lstStyle>
            <a:lvl1pPr algn="ctr">
              <a:lnSpc>
                <a:spcPct val="90000"/>
              </a:lnSpc>
              <a:defRPr sz="2700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T3.4: Automatic generation of AI solutions</a:t>
            </a:r>
          </a:p>
        </p:txBody>
      </p:sp>
      <p:sp>
        <p:nvSpPr>
          <p:cNvPr id="250" name="Google Shape;119;p28"/>
          <p:cNvSpPr txBox="1"/>
          <p:nvPr>
            <p:ph type="body" sz="quarter" idx="4294967295"/>
          </p:nvPr>
        </p:nvSpPr>
        <p:spPr>
          <a:xfrm>
            <a:off x="1142909" y="2701619"/>
            <a:ext cx="6857732" cy="1241461"/>
          </a:xfrm>
          <a:prstGeom prst="rect">
            <a:avLst/>
          </a:prstGeom>
        </p:spPr>
        <p:txBody>
          <a:bodyPr lIns="34275" tIns="34275" rIns="34275" bIns="34275" anchor="ctr"/>
          <a:lstStyle/>
          <a:p>
            <a:pPr marL="0" indent="177800" algn="ctr">
              <a:lnSpc>
                <a:spcPct val="90000"/>
              </a:lnSpc>
              <a:buSzTx/>
              <a:buNone/>
              <a:defRPr sz="2100">
                <a:solidFill>
                  <a:srgbClr val="1034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1st GA</a:t>
            </a:r>
          </a:p>
          <a:p>
            <a:pPr marL="0" indent="177800" algn="ctr">
              <a:lnSpc>
                <a:spcPct val="90000"/>
              </a:lnSpc>
              <a:buSzTx/>
              <a:buNone/>
              <a:defRPr sz="2100">
                <a:solidFill>
                  <a:srgbClr val="1034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TU/e</a:t>
            </a:r>
          </a:p>
        </p:txBody>
      </p:sp>
      <p:sp>
        <p:nvSpPr>
          <p:cNvPr id="251" name="Google Shape;120;p28"/>
          <p:cNvSpPr/>
          <p:nvPr/>
        </p:nvSpPr>
        <p:spPr>
          <a:xfrm>
            <a:off x="460175" y="2571750"/>
            <a:ext cx="2612701" cy="1754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17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518" y="21600"/>
                  <a:pt x="19183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1082" y="0"/>
                  <a:pt x="2417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99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52" name="Google Shape;122;p28"/>
          <p:cNvSpPr txBox="1"/>
          <p:nvPr/>
        </p:nvSpPr>
        <p:spPr>
          <a:xfrm>
            <a:off x="750549" y="3770850"/>
            <a:ext cx="2287802" cy="429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700">
                <a:solidFill>
                  <a:srgbClr val="0B3550"/>
                </a:solidFill>
              </a:defRPr>
            </a:lvl1pPr>
          </a:lstStyle>
          <a:p>
            <a:pPr/>
            <a:r>
              <a:t>AutoML Framework</a:t>
            </a:r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8074" y="2342267"/>
            <a:ext cx="1332752" cy="15000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81;p35"/>
          <p:cNvSpPr txBox="1"/>
          <p:nvPr>
            <p:ph type="title"/>
          </p:nvPr>
        </p:nvSpPr>
        <p:spPr>
          <a:xfrm>
            <a:off x="510549" y="0"/>
            <a:ext cx="7886402" cy="795902"/>
          </a:xfrm>
          <a:prstGeom prst="rect">
            <a:avLst/>
          </a:prstGeom>
        </p:spPr>
        <p:txBody>
          <a:bodyPr lIns="34275" tIns="34275" rIns="34275" bIns="34275"/>
          <a:lstStyle>
            <a:lvl1pPr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56" name="Google Shape;182;p35"/>
          <p:cNvSpPr txBox="1"/>
          <p:nvPr>
            <p:ph type="sldNum" sz="quarter" idx="4294967295"/>
          </p:nvPr>
        </p:nvSpPr>
        <p:spPr>
          <a:xfrm>
            <a:off x="8961542" y="4864945"/>
            <a:ext cx="133379" cy="195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57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13" y="1231726"/>
            <a:ext cx="576405" cy="55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Google Shape;184;p35"/>
          <p:cNvSpPr/>
          <p:nvPr/>
        </p:nvSpPr>
        <p:spPr>
          <a:xfrm>
            <a:off x="920633" y="3540369"/>
            <a:ext cx="659101" cy="6741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59" name="Google Shape;185;p35"/>
          <p:cNvSpPr txBox="1"/>
          <p:nvPr/>
        </p:nvSpPr>
        <p:spPr>
          <a:xfrm>
            <a:off x="907165" y="1749105"/>
            <a:ext cx="717301" cy="45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900">
                <a:solidFill>
                  <a:srgbClr val="0B3550"/>
                </a:solidFill>
              </a:defRPr>
            </a:lvl1pPr>
          </a:lstStyle>
          <a:p>
            <a:pPr/>
            <a:r>
              <a:t>Chat</a:t>
            </a:r>
          </a:p>
        </p:txBody>
      </p:sp>
      <p:grpSp>
        <p:nvGrpSpPr>
          <p:cNvPr id="262" name="Google Shape;186;p35"/>
          <p:cNvGrpSpPr/>
          <p:nvPr/>
        </p:nvGrpSpPr>
        <p:grpSpPr>
          <a:xfrm>
            <a:off x="569883" y="2778326"/>
            <a:ext cx="1397101" cy="457201"/>
            <a:chOff x="0" y="0"/>
            <a:chExt cx="1397099" cy="45720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61" name="Data store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Data store</a:t>
              </a:r>
            </a:p>
          </p:txBody>
        </p:sp>
      </p:grpSp>
      <p:grpSp>
        <p:nvGrpSpPr>
          <p:cNvPr id="265" name="Google Shape;187;p35"/>
          <p:cNvGrpSpPr/>
          <p:nvPr/>
        </p:nvGrpSpPr>
        <p:grpSpPr>
          <a:xfrm>
            <a:off x="569883" y="3344576"/>
            <a:ext cx="1397101" cy="457201"/>
            <a:chOff x="0" y="0"/>
            <a:chExt cx="1397099" cy="457200"/>
          </a:xfrm>
        </p:grpSpPr>
        <p:sp>
          <p:nvSpPr>
            <p:cNvPr id="263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64" name="Model store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Model store</a:t>
              </a:r>
            </a:p>
          </p:txBody>
        </p:sp>
      </p:grpSp>
      <p:pic>
        <p:nvPicPr>
          <p:cNvPr id="266" name="Google Shape;189;p35" descr="Google Shape;189;p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16038" y="953925"/>
            <a:ext cx="1822952" cy="174125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190;p35"/>
          <p:cNvSpPr/>
          <p:nvPr/>
        </p:nvSpPr>
        <p:spPr>
          <a:xfrm>
            <a:off x="5006049" y="798099"/>
            <a:ext cx="2819401" cy="2592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10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118" y="21600"/>
                  <a:pt x="18290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1482" y="0"/>
                  <a:pt x="331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99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68" name="Google Shape;192;p35"/>
          <p:cNvSpPr txBox="1"/>
          <p:nvPr/>
        </p:nvSpPr>
        <p:spPr>
          <a:xfrm>
            <a:off x="5126649" y="2571750"/>
            <a:ext cx="2578201" cy="478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2100">
                <a:solidFill>
                  <a:srgbClr val="0B3550"/>
                </a:solidFill>
              </a:defRPr>
            </a:lvl1pPr>
          </a:lstStyle>
          <a:p>
            <a:pPr/>
            <a:r>
              <a:t>AutoML Engine</a:t>
            </a:r>
          </a:p>
        </p:txBody>
      </p:sp>
      <p:sp>
        <p:nvSpPr>
          <p:cNvPr id="269" name="Google Shape;193;p35"/>
          <p:cNvSpPr/>
          <p:nvPr/>
        </p:nvSpPr>
        <p:spPr>
          <a:xfrm>
            <a:off x="1627864" y="1884675"/>
            <a:ext cx="698687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Google Shape;194;p35"/>
          <p:cNvSpPr/>
          <p:nvPr/>
        </p:nvSpPr>
        <p:spPr>
          <a:xfrm>
            <a:off x="4528487" y="1884675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1" name="Google Shape;195;p35"/>
          <p:cNvSpPr/>
          <p:nvPr/>
        </p:nvSpPr>
        <p:spPr>
          <a:xfrm>
            <a:off x="7970187" y="1877649"/>
            <a:ext cx="279301" cy="1"/>
          </a:xfrm>
          <a:prstGeom prst="line">
            <a:avLst/>
          </a:prstGeom>
          <a:ln w="19050">
            <a:solidFill>
              <a:srgbClr val="067D78"/>
            </a:solidFill>
            <a:headEnd type="stealth"/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72" name="Google Shape;196;p35" descr="Google Shape;196;p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82224" y="1442099"/>
            <a:ext cx="812701" cy="764895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Google Shape;197;p35"/>
          <p:cNvSpPr txBox="1"/>
          <p:nvPr/>
        </p:nvSpPr>
        <p:spPr>
          <a:xfrm>
            <a:off x="8282224" y="2294250"/>
            <a:ext cx="812701" cy="355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0B3550"/>
                </a:solidFill>
              </a:defRPr>
            </a:lvl1pPr>
          </a:lstStyle>
          <a:p>
            <a:pPr/>
            <a:r>
              <a:t>compute</a:t>
            </a:r>
          </a:p>
        </p:txBody>
      </p:sp>
      <p:sp>
        <p:nvSpPr>
          <p:cNvPr id="302" name="Google Shape;198;p35"/>
          <p:cNvSpPr/>
          <p:nvPr/>
        </p:nvSpPr>
        <p:spPr>
          <a:xfrm>
            <a:off x="1971646" y="2516856"/>
            <a:ext cx="3020117" cy="5004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6135" y="20397"/>
                  <a:pt x="13335" y="13197"/>
                  <a:pt x="21600" y="0"/>
                </a:cubicBezTo>
              </a:path>
            </a:pathLst>
          </a:custGeom>
          <a:ln w="28575">
            <a:solidFill>
              <a:srgbClr val="067D78"/>
            </a:solidFill>
            <a:tailEnd type="stealth"/>
          </a:ln>
        </p:spPr>
        <p:txBody>
          <a:bodyPr/>
          <a:lstStyle/>
          <a:p>
            <a:pPr/>
          </a:p>
        </p:txBody>
      </p:sp>
      <p:sp>
        <p:nvSpPr>
          <p:cNvPr id="275" name="Google Shape;199;p35"/>
          <p:cNvSpPr/>
          <p:nvPr/>
        </p:nvSpPr>
        <p:spPr>
          <a:xfrm flipH="1" rot="10800000">
            <a:off x="1983439" y="2094400"/>
            <a:ext cx="3022612" cy="1424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8511" y="0"/>
                  <a:pt x="17022" y="5400"/>
                  <a:pt x="17022" y="10800"/>
                </a:cubicBezTo>
                <a:cubicBezTo>
                  <a:pt x="17022" y="16200"/>
                  <a:pt x="19311" y="21600"/>
                  <a:pt x="21600" y="21600"/>
                </a:cubicBezTo>
              </a:path>
            </a:pathLst>
          </a:custGeom>
          <a:ln w="28575">
            <a:solidFill>
              <a:srgbClr val="067D78"/>
            </a:solidFill>
            <a:headEnd type="stealth"/>
            <a:tailEnd type="stealth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9" name="Google Shape;200;p35"/>
          <p:cNvGrpSpPr/>
          <p:nvPr/>
        </p:nvGrpSpPr>
        <p:grpSpPr>
          <a:xfrm>
            <a:off x="159102" y="1415725"/>
            <a:ext cx="279301" cy="279301"/>
            <a:chOff x="0" y="0"/>
            <a:chExt cx="279300" cy="279300"/>
          </a:xfrm>
        </p:grpSpPr>
        <p:sp>
          <p:nvSpPr>
            <p:cNvPr id="276" name="Circle"/>
            <p:cNvSpPr/>
            <p:nvPr/>
          </p:nvSpPr>
          <p:spPr>
            <a:xfrm>
              <a:off x="-1" y="-1"/>
              <a:ext cx="279302" cy="279302"/>
            </a:xfrm>
            <a:prstGeom prst="ellipse">
              <a:avLst/>
            </a:prstGeom>
            <a:solidFill>
              <a:srgbClr val="FFD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77" name="Shape"/>
            <p:cNvSpPr/>
            <p:nvPr/>
          </p:nvSpPr>
          <p:spPr>
            <a:xfrm>
              <a:off x="80362" y="83336"/>
              <a:ext cx="118575" cy="29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78" name="Shape"/>
            <p:cNvSpPr/>
            <p:nvPr/>
          </p:nvSpPr>
          <p:spPr>
            <a:xfrm>
              <a:off x="-1" y="-1"/>
              <a:ext cx="279302" cy="279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9525" cap="flat">
              <a:solidFill>
                <a:srgbClr val="BF9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280" name="Google Shape;201;p35"/>
          <p:cNvSpPr txBox="1"/>
          <p:nvPr/>
        </p:nvSpPr>
        <p:spPr>
          <a:xfrm>
            <a:off x="-565" y="1725240"/>
            <a:ext cx="717301" cy="458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Designer User</a:t>
            </a:r>
          </a:p>
        </p:txBody>
      </p:sp>
      <p:sp>
        <p:nvSpPr>
          <p:cNvPr id="303" name="Google Shape;202;p35"/>
          <p:cNvSpPr/>
          <p:nvPr/>
        </p:nvSpPr>
        <p:spPr>
          <a:xfrm>
            <a:off x="1266397" y="2206305"/>
            <a:ext cx="1444" cy="567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9050">
            <a:solidFill>
              <a:srgbClr val="067D78"/>
            </a:solidFill>
            <a:headEnd type="stealth"/>
            <a:tailEnd type="stealth"/>
          </a:ln>
        </p:spPr>
        <p:txBody>
          <a:bodyPr/>
          <a:lstStyle/>
          <a:p>
            <a:pPr/>
          </a:p>
        </p:txBody>
      </p:sp>
      <p:grpSp>
        <p:nvGrpSpPr>
          <p:cNvPr id="284" name="Google Shape;186;p35"/>
          <p:cNvGrpSpPr/>
          <p:nvPr/>
        </p:nvGrpSpPr>
        <p:grpSpPr>
          <a:xfrm>
            <a:off x="4119046" y="3852053"/>
            <a:ext cx="1397101" cy="457201"/>
            <a:chOff x="0" y="0"/>
            <a:chExt cx="1397099" cy="457200"/>
          </a:xfrm>
        </p:grpSpPr>
        <p:sp>
          <p:nvSpPr>
            <p:cNvPr id="282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3" name="Best model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Best model</a:t>
              </a:r>
            </a:p>
          </p:txBody>
        </p:sp>
      </p:grpSp>
      <p:grpSp>
        <p:nvGrpSpPr>
          <p:cNvPr id="287" name="Google Shape;186;p35"/>
          <p:cNvGrpSpPr/>
          <p:nvPr/>
        </p:nvGrpSpPr>
        <p:grpSpPr>
          <a:xfrm>
            <a:off x="5717199" y="3788937"/>
            <a:ext cx="1397101" cy="583434"/>
            <a:chOff x="0" y="-63116"/>
            <a:chExt cx="1397099" cy="583433"/>
          </a:xfrm>
        </p:grpSpPr>
        <p:sp>
          <p:nvSpPr>
            <p:cNvPr id="285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6" name="Processed files"/>
            <p:cNvSpPr txBox="1"/>
            <p:nvPr/>
          </p:nvSpPr>
          <p:spPr>
            <a:xfrm>
              <a:off x="4762" y="-63117"/>
              <a:ext cx="1387576" cy="583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Processed files</a:t>
              </a:r>
            </a:p>
          </p:txBody>
        </p:sp>
      </p:grpSp>
      <p:grpSp>
        <p:nvGrpSpPr>
          <p:cNvPr id="290" name="Google Shape;186;p35"/>
          <p:cNvGrpSpPr/>
          <p:nvPr/>
        </p:nvGrpSpPr>
        <p:grpSpPr>
          <a:xfrm>
            <a:off x="7315353" y="3843770"/>
            <a:ext cx="1397101" cy="457201"/>
            <a:chOff x="0" y="0"/>
            <a:chExt cx="1397099" cy="457200"/>
          </a:xfrm>
        </p:grpSpPr>
        <p:sp>
          <p:nvSpPr>
            <p:cNvPr id="288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9" name="What next?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What next?</a:t>
              </a:r>
            </a:p>
          </p:txBody>
        </p:sp>
      </p:grpSp>
      <p:sp>
        <p:nvSpPr>
          <p:cNvPr id="291" name="Google Shape;194;p35"/>
          <p:cNvSpPr/>
          <p:nvPr/>
        </p:nvSpPr>
        <p:spPr>
          <a:xfrm flipH="1">
            <a:off x="4902727" y="3508205"/>
            <a:ext cx="570250" cy="289962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2" name="Google Shape;194;p35"/>
          <p:cNvSpPr/>
          <p:nvPr/>
        </p:nvSpPr>
        <p:spPr>
          <a:xfrm>
            <a:off x="6415749" y="3468985"/>
            <a:ext cx="1" cy="355666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3" name="Google Shape;194;p35"/>
          <p:cNvSpPr/>
          <p:nvPr/>
        </p:nvSpPr>
        <p:spPr>
          <a:xfrm>
            <a:off x="7479247" y="3481388"/>
            <a:ext cx="569608" cy="343099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4" name="Google Shape;193;p35"/>
          <p:cNvSpPr/>
          <p:nvPr/>
        </p:nvSpPr>
        <p:spPr>
          <a:xfrm>
            <a:off x="667077" y="1884675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95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46456" y="1038293"/>
            <a:ext cx="1397101" cy="1572514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Connection Line"/>
          <p:cNvSpPr/>
          <p:nvPr/>
        </p:nvSpPr>
        <p:spPr>
          <a:xfrm>
            <a:off x="1426835" y="1131070"/>
            <a:ext cx="1089207" cy="4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80" fill="norm" stroke="1" extrusionOk="0">
                <a:moveTo>
                  <a:pt x="0" y="12047"/>
                </a:moveTo>
                <a:cubicBezTo>
                  <a:pt x="8475" y="-5320"/>
                  <a:pt x="15675" y="-3909"/>
                  <a:pt x="21600" y="16280"/>
                </a:cubicBezTo>
              </a:path>
            </a:pathLst>
          </a:custGeom>
          <a:ln w="25400">
            <a:solidFill>
              <a:srgbClr val="377B77"/>
            </a:solidFill>
            <a:headEnd type="triangle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7" name="Google Shape;201;p35"/>
          <p:cNvSpPr txBox="1"/>
          <p:nvPr/>
        </p:nvSpPr>
        <p:spPr>
          <a:xfrm>
            <a:off x="1355680" y="827940"/>
            <a:ext cx="1369557" cy="37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/>
          <a:lstStyle>
            <a:lvl1pPr>
              <a:defRPr b="1" sz="800">
                <a:solidFill>
                  <a:srgbClr val="0B3550"/>
                </a:solidFill>
              </a:defRPr>
            </a:lvl1pPr>
          </a:lstStyle>
          <a:p>
            <a:pPr/>
            <a:r>
              <a:t>I need more information</a:t>
            </a:r>
          </a:p>
        </p:txBody>
      </p:sp>
      <p:pic>
        <p:nvPicPr>
          <p:cNvPr id="298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83" y="4154008"/>
            <a:ext cx="576405" cy="55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2524" y="4147086"/>
            <a:ext cx="518353" cy="583434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Key"/>
          <p:cNvSpPr txBox="1"/>
          <p:nvPr/>
        </p:nvSpPr>
        <p:spPr>
          <a:xfrm>
            <a:off x="473391" y="3959196"/>
            <a:ext cx="31907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Key</a:t>
            </a:r>
          </a:p>
        </p:txBody>
      </p:sp>
      <p:sp>
        <p:nvSpPr>
          <p:cNvPr id="301" name="Rectangle"/>
          <p:cNvSpPr/>
          <p:nvPr/>
        </p:nvSpPr>
        <p:spPr>
          <a:xfrm>
            <a:off x="40718" y="3856470"/>
            <a:ext cx="1334591" cy="86765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AutoML Engine - Working Parts</a:t>
            </a:r>
          </a:p>
        </p:txBody>
      </p:sp>
      <p:sp>
        <p:nvSpPr>
          <p:cNvPr id="307" name="Google Shape;455;p46"/>
          <p:cNvSpPr txBox="1"/>
          <p:nvPr>
            <p:ph type="body" idx="1"/>
          </p:nvPr>
        </p:nvSpPr>
        <p:spPr>
          <a:xfrm>
            <a:off x="295550" y="795900"/>
            <a:ext cx="8726400" cy="309097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Input types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“Give me a model for X with Y data”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“Here is file/code X, I want it to do Y”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Note on generated models</a:t>
            </a:r>
          </a:p>
        </p:txBody>
      </p:sp>
      <p:sp>
        <p:nvSpPr>
          <p:cNvPr id="310" name="Google Shape;455;p46"/>
          <p:cNvSpPr txBox="1"/>
          <p:nvPr>
            <p:ph type="body" idx="1"/>
          </p:nvPr>
        </p:nvSpPr>
        <p:spPr>
          <a:xfrm>
            <a:off x="295550" y="795900"/>
            <a:ext cx="8726400" cy="309097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We do not always want to train a model from scratch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We will not use an LLM to generate a model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We do not always want to generate a model in the first place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 defTabSz="905255">
              <a:lnSpc>
                <a:spcPct val="90000"/>
              </a:lnSpc>
              <a:defRPr sz="3267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“Give me a model for X with Y data” (Part 1/4)</a:t>
            </a:r>
          </a:p>
        </p:txBody>
      </p:sp>
      <p:pic>
        <p:nvPicPr>
          <p:cNvPr id="313" name="Google Shape;454;p46" descr="Google Shape;454;p46"/>
          <p:cNvPicPr>
            <a:picLocks noChangeAspect="1"/>
          </p:cNvPicPr>
          <p:nvPr/>
        </p:nvPicPr>
        <p:blipFill>
          <a:blip r:embed="rId2">
            <a:extLst/>
          </a:blip>
          <a:srcRect l="0" t="33114" r="0" b="0"/>
          <a:stretch>
            <a:fillRect/>
          </a:stretch>
        </p:blipFill>
        <p:spPr>
          <a:xfrm>
            <a:off x="209775" y="2075174"/>
            <a:ext cx="8897951" cy="2656077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Google Shape;455;p46"/>
          <p:cNvSpPr txBox="1"/>
          <p:nvPr>
            <p:ph type="body" sz="half" idx="1"/>
          </p:nvPr>
        </p:nvSpPr>
        <p:spPr>
          <a:xfrm>
            <a:off x="295550" y="795900"/>
            <a:ext cx="8726400" cy="11865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Use AutoML -&gt; best pipelines/models on all our datasets </a:t>
            </a:r>
            <a:r>
              <a:rPr i="1"/>
              <a:t>beforehand (priority)</a:t>
            </a:r>
            <a:endParaRPr i="1"/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Create a </a:t>
            </a:r>
            <a:r>
              <a:rPr i="1"/>
              <a:t>portfolio</a:t>
            </a:r>
            <a:r>
              <a:t> of best pipelines/models per task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When the user/LLM requests a model, find the best models within the portfolio and finetune them to the new task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If new task -&gt; Find the most relevant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460;p47" descr="Google Shape;460;p47"/>
          <p:cNvPicPr>
            <a:picLocks noChangeAspect="1"/>
          </p:cNvPicPr>
          <p:nvPr/>
        </p:nvPicPr>
        <p:blipFill>
          <a:blip r:embed="rId2">
            <a:extLst/>
          </a:blip>
          <a:srcRect l="0" t="13090" r="0" b="842"/>
          <a:stretch>
            <a:fillRect/>
          </a:stretch>
        </p:blipFill>
        <p:spPr>
          <a:xfrm>
            <a:off x="343250" y="1164799"/>
            <a:ext cx="8629075" cy="3531853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Google Shape;461;p47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 defTabSz="905255">
              <a:lnSpc>
                <a:spcPct val="90000"/>
              </a:lnSpc>
              <a:defRPr sz="3267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“Give me a model for X with Y data” (Part 2/4)</a:t>
            </a:r>
          </a:p>
        </p:txBody>
      </p:sp>
      <p:sp>
        <p:nvSpPr>
          <p:cNvPr id="318" name="Google Shape;462;p47"/>
          <p:cNvSpPr txBox="1"/>
          <p:nvPr/>
        </p:nvSpPr>
        <p:spPr>
          <a:xfrm>
            <a:off x="208374" y="795900"/>
            <a:ext cx="7437602" cy="1117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74650">
              <a:lnSpc>
                <a:spcPct val="90000"/>
              </a:lnSpc>
              <a:buClr>
                <a:srgbClr val="000000"/>
              </a:buClr>
              <a:buSzPts val="1700"/>
              <a:buFont typeface="Helvetica Neue"/>
              <a:buChar char="●"/>
              <a:defRPr sz="1700">
                <a:solidFill>
                  <a:srgbClr val="0B3550"/>
                </a:solidFill>
              </a:defRPr>
            </a:pPr>
            <a:r>
              <a:t>AutoGluon approach: source the best models from many different problems, tune them beforehand on all datasets we have</a:t>
            </a:r>
          </a:p>
          <a:p>
            <a:pPr marL="457200" indent="-374650">
              <a:lnSpc>
                <a:spcPct val="90000"/>
              </a:lnSpc>
              <a:buClr>
                <a:srgbClr val="000000"/>
              </a:buClr>
              <a:buSzPts val="1700"/>
              <a:buFont typeface="Helvetica Neue"/>
              <a:buChar char="●"/>
              <a:defRPr sz="1700">
                <a:solidFill>
                  <a:srgbClr val="0B3550"/>
                </a:solidFill>
              </a:defRPr>
            </a:pPr>
            <a:r>
              <a:t>Given a new dataset, tune the best models and build ensembles</a:t>
            </a:r>
          </a:p>
          <a:p>
            <a:pPr marL="457200" indent="-374650">
              <a:lnSpc>
                <a:spcPct val="90000"/>
              </a:lnSpc>
              <a:buClr>
                <a:srgbClr val="000000"/>
              </a:buClr>
              <a:buSzPts val="1700"/>
              <a:buFont typeface="Helvetica Neue"/>
              <a:buChar char="●"/>
              <a:defRPr sz="1700">
                <a:solidFill>
                  <a:srgbClr val="0B3550"/>
                </a:solidFill>
              </a:defRPr>
            </a:pPr>
            <a:r>
              <a:t>Proven to yield good models in very little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 defTabSz="905255">
              <a:lnSpc>
                <a:spcPct val="90000"/>
              </a:lnSpc>
              <a:defRPr sz="3267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“Give me a model for X with Y data” (Part 3/4)</a:t>
            </a:r>
          </a:p>
        </p:txBody>
      </p:sp>
      <p:sp>
        <p:nvSpPr>
          <p:cNvPr id="321" name="Google Shape;455;p46"/>
          <p:cNvSpPr txBox="1"/>
          <p:nvPr>
            <p:ph type="body" sz="quarter" idx="1"/>
          </p:nvPr>
        </p:nvSpPr>
        <p:spPr>
          <a:xfrm>
            <a:off x="208800" y="564634"/>
            <a:ext cx="8569535" cy="514574"/>
          </a:xfrm>
          <a:prstGeom prst="rect">
            <a:avLst/>
          </a:prstGeom>
        </p:spPr>
        <p:txBody>
          <a:bodyPr/>
          <a:lstStyle>
            <a:lvl1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lvl1pPr>
          </a:lstStyle>
          <a:p>
            <a:pPr/>
            <a:r>
              <a:t>Design a new architecture based on the task (Future)</a:t>
            </a:r>
          </a:p>
        </p:txBody>
      </p:sp>
      <p:grpSp>
        <p:nvGrpSpPr>
          <p:cNvPr id="349" name="Group"/>
          <p:cNvGrpSpPr/>
          <p:nvPr/>
        </p:nvGrpSpPr>
        <p:grpSpPr>
          <a:xfrm>
            <a:off x="520814" y="929844"/>
            <a:ext cx="7945506" cy="3804880"/>
            <a:chOff x="0" y="9207"/>
            <a:chExt cx="7945505" cy="3804878"/>
          </a:xfrm>
        </p:grpSpPr>
        <p:pic>
          <p:nvPicPr>
            <p:cNvPr id="322" name="Google Shape;216;p37" descr="Google Shape;216;p3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478949" y="1244931"/>
              <a:ext cx="4267446" cy="21437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Google Shape;217;p37"/>
            <p:cNvSpPr/>
            <p:nvPr/>
          </p:nvSpPr>
          <p:spPr>
            <a:xfrm>
              <a:off x="1095248" y="1360536"/>
              <a:ext cx="237777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0"/>
                  </a:moveTo>
                  <a:lnTo>
                    <a:pt x="21600" y="21600"/>
                  </a:lnTo>
                  <a:lnTo>
                    <a:pt x="4639" y="21600"/>
                  </a:lnTo>
                  <a:lnTo>
                    <a:pt x="0" y="0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rgbClr val="EF7F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24" name="Google Shape;218;p37"/>
            <p:cNvSpPr/>
            <p:nvPr/>
          </p:nvSpPr>
          <p:spPr>
            <a:xfrm>
              <a:off x="1096991" y="1557474"/>
              <a:ext cx="237778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21600"/>
                  </a:moveTo>
                  <a:lnTo>
                    <a:pt x="21600" y="0"/>
                  </a:lnTo>
                  <a:lnTo>
                    <a:pt x="4639" y="0"/>
                  </a:lnTo>
                  <a:lnTo>
                    <a:pt x="0" y="21600"/>
                  </a:lnTo>
                  <a:lnTo>
                    <a:pt x="16961" y="21600"/>
                  </a:lnTo>
                  <a:close/>
                </a:path>
              </a:pathLst>
            </a:custGeom>
            <a:solidFill>
              <a:srgbClr val="EF7F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25" name="Google Shape;219;p37"/>
            <p:cNvSpPr/>
            <p:nvPr/>
          </p:nvSpPr>
          <p:spPr>
            <a:xfrm>
              <a:off x="1291736" y="1360536"/>
              <a:ext cx="237777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0"/>
                  </a:moveTo>
                  <a:lnTo>
                    <a:pt x="21600" y="21600"/>
                  </a:lnTo>
                  <a:lnTo>
                    <a:pt x="4639" y="21600"/>
                  </a:lnTo>
                  <a:lnTo>
                    <a:pt x="0" y="0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rgbClr val="E600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26" name="Google Shape;220;p37"/>
            <p:cNvSpPr/>
            <p:nvPr/>
          </p:nvSpPr>
          <p:spPr>
            <a:xfrm>
              <a:off x="1293480" y="1557474"/>
              <a:ext cx="237778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21600"/>
                  </a:moveTo>
                  <a:lnTo>
                    <a:pt x="21600" y="0"/>
                  </a:lnTo>
                  <a:lnTo>
                    <a:pt x="4639" y="0"/>
                  </a:lnTo>
                  <a:lnTo>
                    <a:pt x="0" y="21600"/>
                  </a:lnTo>
                  <a:lnTo>
                    <a:pt x="16961" y="21600"/>
                  </a:lnTo>
                  <a:close/>
                </a:path>
              </a:pathLst>
            </a:custGeom>
            <a:solidFill>
              <a:srgbClr val="E600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27" name="Google Shape;221;p37"/>
            <p:cNvSpPr/>
            <p:nvPr/>
          </p:nvSpPr>
          <p:spPr>
            <a:xfrm>
              <a:off x="1488224" y="1360536"/>
              <a:ext cx="237777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0"/>
                  </a:moveTo>
                  <a:lnTo>
                    <a:pt x="21600" y="21600"/>
                  </a:lnTo>
                  <a:lnTo>
                    <a:pt x="4639" y="21600"/>
                  </a:lnTo>
                  <a:lnTo>
                    <a:pt x="0" y="0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rgbClr val="A6027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28" name="Google Shape;222;p37"/>
            <p:cNvSpPr/>
            <p:nvPr/>
          </p:nvSpPr>
          <p:spPr>
            <a:xfrm>
              <a:off x="1489968" y="1557474"/>
              <a:ext cx="237778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21600"/>
                  </a:moveTo>
                  <a:lnTo>
                    <a:pt x="21600" y="0"/>
                  </a:lnTo>
                  <a:lnTo>
                    <a:pt x="4639" y="0"/>
                  </a:lnTo>
                  <a:lnTo>
                    <a:pt x="0" y="21600"/>
                  </a:lnTo>
                  <a:lnTo>
                    <a:pt x="16961" y="21600"/>
                  </a:lnTo>
                  <a:close/>
                </a:path>
              </a:pathLst>
            </a:custGeom>
            <a:solidFill>
              <a:srgbClr val="A6027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29" name="Google Shape;223;p37"/>
            <p:cNvSpPr/>
            <p:nvPr/>
          </p:nvSpPr>
          <p:spPr>
            <a:xfrm>
              <a:off x="1681093" y="1360536"/>
              <a:ext cx="237777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0"/>
                  </a:moveTo>
                  <a:lnTo>
                    <a:pt x="21600" y="21600"/>
                  </a:lnTo>
                  <a:lnTo>
                    <a:pt x="4639" y="21600"/>
                  </a:lnTo>
                  <a:lnTo>
                    <a:pt x="0" y="0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rgbClr val="0099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30" name="Google Shape;224;p37"/>
            <p:cNvSpPr/>
            <p:nvPr/>
          </p:nvSpPr>
          <p:spPr>
            <a:xfrm>
              <a:off x="1682836" y="1557474"/>
              <a:ext cx="237778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21600"/>
                  </a:moveTo>
                  <a:lnTo>
                    <a:pt x="21600" y="0"/>
                  </a:lnTo>
                  <a:lnTo>
                    <a:pt x="4639" y="0"/>
                  </a:lnTo>
                  <a:lnTo>
                    <a:pt x="0" y="21600"/>
                  </a:lnTo>
                  <a:lnTo>
                    <a:pt x="16961" y="21600"/>
                  </a:lnTo>
                  <a:close/>
                </a:path>
              </a:pathLst>
            </a:custGeom>
            <a:solidFill>
              <a:srgbClr val="0099A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31" name="Google Shape;225;p37"/>
            <p:cNvSpPr/>
            <p:nvPr/>
          </p:nvSpPr>
          <p:spPr>
            <a:xfrm>
              <a:off x="1877581" y="1360536"/>
              <a:ext cx="237777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0"/>
                  </a:moveTo>
                  <a:lnTo>
                    <a:pt x="21600" y="21600"/>
                  </a:lnTo>
                  <a:lnTo>
                    <a:pt x="4639" y="21600"/>
                  </a:lnTo>
                  <a:lnTo>
                    <a:pt x="0" y="0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rgbClr val="7AB51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32" name="Google Shape;226;p37"/>
            <p:cNvSpPr/>
            <p:nvPr/>
          </p:nvSpPr>
          <p:spPr>
            <a:xfrm>
              <a:off x="1879325" y="1557474"/>
              <a:ext cx="237778" cy="200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61" y="21600"/>
                  </a:moveTo>
                  <a:lnTo>
                    <a:pt x="21600" y="0"/>
                  </a:lnTo>
                  <a:lnTo>
                    <a:pt x="4639" y="0"/>
                  </a:lnTo>
                  <a:lnTo>
                    <a:pt x="0" y="21600"/>
                  </a:lnTo>
                  <a:lnTo>
                    <a:pt x="16961" y="21600"/>
                  </a:lnTo>
                  <a:close/>
                </a:path>
              </a:pathLst>
            </a:custGeom>
            <a:solidFill>
              <a:srgbClr val="7AB51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33" name="Google Shape;227;p37"/>
            <p:cNvSpPr txBox="1"/>
            <p:nvPr/>
          </p:nvSpPr>
          <p:spPr>
            <a:xfrm>
              <a:off x="1051392" y="505673"/>
              <a:ext cx="1063840" cy="6978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cleaning,</a:t>
              </a:r>
              <a:endParaRPr sz="500"/>
            </a:p>
            <a:p>
              <a: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preprocessing,</a:t>
              </a:r>
              <a:endParaRPr sz="500"/>
            </a:p>
            <a:p>
              <a: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featurization,</a:t>
              </a:r>
              <a:endParaRPr sz="500"/>
            </a:p>
            <a:p>
              <a: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selection,…</a:t>
              </a:r>
            </a:p>
          </p:txBody>
        </p:sp>
        <p:grpSp>
          <p:nvGrpSpPr>
            <p:cNvPr id="337" name="Google Shape;228;p37"/>
            <p:cNvGrpSpPr/>
            <p:nvPr/>
          </p:nvGrpSpPr>
          <p:grpSpPr>
            <a:xfrm>
              <a:off x="2863375" y="258858"/>
              <a:ext cx="2977732" cy="770601"/>
              <a:chOff x="0" y="0"/>
              <a:chExt cx="2977731" cy="770600"/>
            </a:xfrm>
          </p:grpSpPr>
          <p:pic>
            <p:nvPicPr>
              <p:cNvPr id="334" name="Google Shape;229;p37" descr="Google Shape;229;p37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rcRect l="54577" t="0" r="18167" b="65067"/>
              <a:stretch>
                <a:fillRect/>
              </a:stretch>
            </p:blipFill>
            <p:spPr>
              <a:xfrm>
                <a:off x="1174094" y="0"/>
                <a:ext cx="1803638" cy="7706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35" name="Google Shape;230;p37" descr="Google Shape;230;p37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rcRect l="27442" t="0" r="63447" b="65067"/>
              <a:stretch>
                <a:fillRect/>
              </a:stretch>
            </p:blipFill>
            <p:spPr>
              <a:xfrm>
                <a:off x="574924" y="0"/>
                <a:ext cx="602847" cy="7706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36" name="Google Shape;231;p37" descr="Google Shape;231;p37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rcRect l="9642" t="0" r="81448" b="65067"/>
              <a:stretch>
                <a:fillRect/>
              </a:stretch>
            </p:blipFill>
            <p:spPr>
              <a:xfrm>
                <a:off x="0" y="0"/>
                <a:ext cx="589572" cy="7706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38" name="Google Shape;232;p37"/>
            <p:cNvSpPr txBox="1"/>
            <p:nvPr/>
          </p:nvSpPr>
          <p:spPr>
            <a:xfrm>
              <a:off x="3297396" y="9207"/>
              <a:ext cx="2109690" cy="200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/>
              <a:r>
                <a:t>Template Model selection</a:t>
              </a:r>
            </a:p>
          </p:txBody>
        </p:sp>
        <p:sp>
          <p:nvSpPr>
            <p:cNvPr id="339" name="Google Shape;233;p37"/>
            <p:cNvSpPr txBox="1"/>
            <p:nvPr/>
          </p:nvSpPr>
          <p:spPr>
            <a:xfrm>
              <a:off x="3669039" y="1314344"/>
              <a:ext cx="1856066" cy="200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/>
              <a:r>
                <a:t>Neural architecture design</a:t>
              </a:r>
            </a:p>
          </p:txBody>
        </p:sp>
        <p:sp>
          <p:nvSpPr>
            <p:cNvPr id="340" name="Google Shape;234;p37"/>
            <p:cNvSpPr txBox="1"/>
            <p:nvPr/>
          </p:nvSpPr>
          <p:spPr>
            <a:xfrm>
              <a:off x="5940521" y="3038763"/>
              <a:ext cx="2004985" cy="366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>
                <a:defRPr b="1" sz="1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Transfer / continual learning </a:t>
              </a:r>
              <a:endParaRPr sz="500"/>
            </a:p>
            <a:p>
              <a:pPr algn="ctr">
                <a:defRPr i="1" sz="11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Small data, few-shot learning</a:t>
              </a:r>
            </a:p>
          </p:txBody>
        </p:sp>
        <p:pic>
          <p:nvPicPr>
            <p:cNvPr id="341" name="Google Shape;235;p37" descr="Google Shape;235;p37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9060" t="0" r="12077" b="35794"/>
            <a:stretch>
              <a:fillRect/>
            </a:stretch>
          </p:blipFill>
          <p:spPr>
            <a:xfrm>
              <a:off x="4705356" y="3284865"/>
              <a:ext cx="1129859" cy="5292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2" name="Google Shape;236;p37" descr="Google Shape;236;p37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34848" r="80803" b="52763"/>
            <a:stretch>
              <a:fillRect/>
            </a:stretch>
          </p:blipFill>
          <p:spPr>
            <a:xfrm>
              <a:off x="4104360" y="3473032"/>
              <a:ext cx="495705" cy="3147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3" name="Google Shape;237;p37" descr="Google Shape;237;p37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88381" t="35286" r="0" b="51748"/>
            <a:stretch>
              <a:fillRect/>
            </a:stretch>
          </p:blipFill>
          <p:spPr>
            <a:xfrm>
              <a:off x="5940521" y="3473032"/>
              <a:ext cx="237842" cy="3147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4" name="Google Shape;238;p37"/>
            <p:cNvSpPr/>
            <p:nvPr/>
          </p:nvSpPr>
          <p:spPr>
            <a:xfrm rot="5400000">
              <a:off x="4830911" y="1089545"/>
              <a:ext cx="211322" cy="190220"/>
            </a:xfrm>
            <a:prstGeom prst="rightArrow">
              <a:avLst>
                <a:gd name="adj1" fmla="val 32000"/>
                <a:gd name="adj2" fmla="val 84678"/>
              </a:avLst>
            </a:prstGeom>
            <a:solidFill>
              <a:srgbClr val="10343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45" name="Google Shape;239;p37"/>
            <p:cNvSpPr/>
            <p:nvPr/>
          </p:nvSpPr>
          <p:spPr>
            <a:xfrm rot="5400000">
              <a:off x="5018425" y="3101107"/>
              <a:ext cx="466655" cy="153141"/>
            </a:xfrm>
            <a:prstGeom prst="rightArrow">
              <a:avLst>
                <a:gd name="adj1" fmla="val 32000"/>
                <a:gd name="adj2" fmla="val 105180"/>
              </a:avLst>
            </a:prstGeom>
            <a:solidFill>
              <a:srgbClr val="10343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46" name="Google Shape;240;p37"/>
            <p:cNvSpPr txBox="1"/>
            <p:nvPr/>
          </p:nvSpPr>
          <p:spPr>
            <a:xfrm>
              <a:off x="4985567" y="3009147"/>
              <a:ext cx="532373" cy="18749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 algn="ctr">
                <a:defRPr sz="11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/>
              <a:r>
                <a:t>pretrain</a:t>
              </a:r>
            </a:p>
          </p:txBody>
        </p:sp>
        <p:sp>
          <p:nvSpPr>
            <p:cNvPr id="347" name="Google Shape;241;p37"/>
            <p:cNvSpPr/>
            <p:nvPr/>
          </p:nvSpPr>
          <p:spPr>
            <a:xfrm>
              <a:off x="0" y="1091038"/>
              <a:ext cx="502359" cy="586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1" y="0"/>
                  </a:moveTo>
                  <a:cubicBezTo>
                    <a:pt x="7949" y="0"/>
                    <a:pt x="5266" y="392"/>
                    <a:pt x="3255" y="1111"/>
                  </a:cubicBezTo>
                  <a:cubicBezTo>
                    <a:pt x="1360" y="1787"/>
                    <a:pt x="273" y="2685"/>
                    <a:pt x="273" y="3572"/>
                  </a:cubicBezTo>
                  <a:cubicBezTo>
                    <a:pt x="273" y="4460"/>
                    <a:pt x="1360" y="5360"/>
                    <a:pt x="3255" y="6035"/>
                  </a:cubicBezTo>
                  <a:cubicBezTo>
                    <a:pt x="5266" y="6749"/>
                    <a:pt x="7949" y="7147"/>
                    <a:pt x="10801" y="7147"/>
                  </a:cubicBezTo>
                  <a:cubicBezTo>
                    <a:pt x="13652" y="7147"/>
                    <a:pt x="16334" y="6754"/>
                    <a:pt x="18345" y="6035"/>
                  </a:cubicBezTo>
                  <a:cubicBezTo>
                    <a:pt x="20240" y="5360"/>
                    <a:pt x="21327" y="4460"/>
                    <a:pt x="21327" y="3572"/>
                  </a:cubicBezTo>
                  <a:cubicBezTo>
                    <a:pt x="21327" y="2685"/>
                    <a:pt x="20240" y="1787"/>
                    <a:pt x="18345" y="1111"/>
                  </a:cubicBezTo>
                  <a:cubicBezTo>
                    <a:pt x="16334" y="398"/>
                    <a:pt x="13652" y="0"/>
                    <a:pt x="10801" y="0"/>
                  </a:cubicBezTo>
                  <a:close/>
                  <a:moveTo>
                    <a:pt x="12" y="4505"/>
                  </a:moveTo>
                  <a:lnTo>
                    <a:pt x="12" y="5914"/>
                  </a:lnTo>
                  <a:cubicBezTo>
                    <a:pt x="12" y="8033"/>
                    <a:pt x="4846" y="9754"/>
                    <a:pt x="10811" y="9754"/>
                  </a:cubicBezTo>
                  <a:cubicBezTo>
                    <a:pt x="16776" y="9754"/>
                    <a:pt x="21600" y="8039"/>
                    <a:pt x="21600" y="5914"/>
                  </a:cubicBezTo>
                  <a:lnTo>
                    <a:pt x="21600" y="4505"/>
                  </a:lnTo>
                  <a:cubicBezTo>
                    <a:pt x="21136" y="5284"/>
                    <a:pt x="20088" y="5991"/>
                    <a:pt x="18531" y="6541"/>
                  </a:cubicBezTo>
                  <a:cubicBezTo>
                    <a:pt x="16460" y="7276"/>
                    <a:pt x="13718" y="7679"/>
                    <a:pt x="10806" y="7679"/>
                  </a:cubicBezTo>
                  <a:cubicBezTo>
                    <a:pt x="7894" y="7679"/>
                    <a:pt x="5146" y="7276"/>
                    <a:pt x="3081" y="6541"/>
                  </a:cubicBezTo>
                  <a:cubicBezTo>
                    <a:pt x="1524" y="5985"/>
                    <a:pt x="476" y="5284"/>
                    <a:pt x="12" y="4505"/>
                  </a:cubicBezTo>
                  <a:close/>
                  <a:moveTo>
                    <a:pt x="0" y="7320"/>
                  </a:moveTo>
                  <a:lnTo>
                    <a:pt x="0" y="8284"/>
                  </a:lnTo>
                  <a:cubicBezTo>
                    <a:pt x="0" y="10402"/>
                    <a:pt x="4836" y="12123"/>
                    <a:pt x="10801" y="12123"/>
                  </a:cubicBezTo>
                  <a:cubicBezTo>
                    <a:pt x="16766" y="12123"/>
                    <a:pt x="21600" y="10408"/>
                    <a:pt x="21600" y="8284"/>
                  </a:cubicBezTo>
                  <a:lnTo>
                    <a:pt x="21600" y="7320"/>
                  </a:lnTo>
                  <a:cubicBezTo>
                    <a:pt x="21458" y="7495"/>
                    <a:pt x="21295" y="7664"/>
                    <a:pt x="21098" y="7827"/>
                  </a:cubicBezTo>
                  <a:cubicBezTo>
                    <a:pt x="20508" y="8329"/>
                    <a:pt x="19672" y="8769"/>
                    <a:pt x="18618" y="9145"/>
                  </a:cubicBezTo>
                  <a:cubicBezTo>
                    <a:pt x="16520" y="9891"/>
                    <a:pt x="13745" y="10299"/>
                    <a:pt x="10801" y="10299"/>
                  </a:cubicBezTo>
                  <a:cubicBezTo>
                    <a:pt x="7856" y="10299"/>
                    <a:pt x="5080" y="9891"/>
                    <a:pt x="2982" y="9145"/>
                  </a:cubicBezTo>
                  <a:cubicBezTo>
                    <a:pt x="1928" y="8769"/>
                    <a:pt x="1099" y="8329"/>
                    <a:pt x="504" y="7827"/>
                  </a:cubicBezTo>
                  <a:cubicBezTo>
                    <a:pt x="307" y="7664"/>
                    <a:pt x="142" y="7495"/>
                    <a:pt x="0" y="7320"/>
                  </a:cubicBezTo>
                  <a:close/>
                  <a:moveTo>
                    <a:pt x="0" y="9689"/>
                  </a:moveTo>
                  <a:lnTo>
                    <a:pt x="0" y="10653"/>
                  </a:lnTo>
                  <a:cubicBezTo>
                    <a:pt x="0" y="12771"/>
                    <a:pt x="4836" y="14492"/>
                    <a:pt x="10801" y="14492"/>
                  </a:cubicBezTo>
                  <a:cubicBezTo>
                    <a:pt x="16766" y="14492"/>
                    <a:pt x="21600" y="12777"/>
                    <a:pt x="21600" y="10653"/>
                  </a:cubicBezTo>
                  <a:lnTo>
                    <a:pt x="21600" y="9689"/>
                  </a:lnTo>
                  <a:cubicBezTo>
                    <a:pt x="21458" y="9864"/>
                    <a:pt x="21295" y="10033"/>
                    <a:pt x="21098" y="10197"/>
                  </a:cubicBezTo>
                  <a:cubicBezTo>
                    <a:pt x="20508" y="10698"/>
                    <a:pt x="19672" y="11138"/>
                    <a:pt x="18618" y="11514"/>
                  </a:cubicBezTo>
                  <a:cubicBezTo>
                    <a:pt x="16520" y="12260"/>
                    <a:pt x="13745" y="12668"/>
                    <a:pt x="10801" y="12668"/>
                  </a:cubicBezTo>
                  <a:cubicBezTo>
                    <a:pt x="7856" y="12668"/>
                    <a:pt x="5080" y="12260"/>
                    <a:pt x="2982" y="11514"/>
                  </a:cubicBezTo>
                  <a:cubicBezTo>
                    <a:pt x="1928" y="11138"/>
                    <a:pt x="1099" y="10698"/>
                    <a:pt x="504" y="10197"/>
                  </a:cubicBezTo>
                  <a:cubicBezTo>
                    <a:pt x="307" y="10033"/>
                    <a:pt x="142" y="9864"/>
                    <a:pt x="0" y="9689"/>
                  </a:cubicBezTo>
                  <a:close/>
                  <a:moveTo>
                    <a:pt x="0" y="12059"/>
                  </a:moveTo>
                  <a:lnTo>
                    <a:pt x="0" y="13022"/>
                  </a:lnTo>
                  <a:cubicBezTo>
                    <a:pt x="0" y="15141"/>
                    <a:pt x="4836" y="16862"/>
                    <a:pt x="10801" y="16862"/>
                  </a:cubicBezTo>
                  <a:cubicBezTo>
                    <a:pt x="16766" y="16862"/>
                    <a:pt x="21600" y="15146"/>
                    <a:pt x="21600" y="13022"/>
                  </a:cubicBezTo>
                  <a:lnTo>
                    <a:pt x="21600" y="12059"/>
                  </a:lnTo>
                  <a:cubicBezTo>
                    <a:pt x="21458" y="12233"/>
                    <a:pt x="21295" y="12402"/>
                    <a:pt x="21098" y="12566"/>
                  </a:cubicBezTo>
                  <a:cubicBezTo>
                    <a:pt x="20508" y="13067"/>
                    <a:pt x="19672" y="13507"/>
                    <a:pt x="18618" y="13883"/>
                  </a:cubicBezTo>
                  <a:cubicBezTo>
                    <a:pt x="16520" y="14629"/>
                    <a:pt x="13745" y="15037"/>
                    <a:pt x="10801" y="15037"/>
                  </a:cubicBezTo>
                  <a:cubicBezTo>
                    <a:pt x="7856" y="15037"/>
                    <a:pt x="5080" y="14629"/>
                    <a:pt x="2982" y="13883"/>
                  </a:cubicBezTo>
                  <a:cubicBezTo>
                    <a:pt x="1928" y="13507"/>
                    <a:pt x="1099" y="13067"/>
                    <a:pt x="504" y="12566"/>
                  </a:cubicBezTo>
                  <a:cubicBezTo>
                    <a:pt x="307" y="12402"/>
                    <a:pt x="142" y="12233"/>
                    <a:pt x="0" y="12059"/>
                  </a:cubicBezTo>
                  <a:close/>
                  <a:moveTo>
                    <a:pt x="0" y="14428"/>
                  </a:moveTo>
                  <a:lnTo>
                    <a:pt x="0" y="15391"/>
                  </a:lnTo>
                  <a:cubicBezTo>
                    <a:pt x="0" y="17510"/>
                    <a:pt x="4836" y="19231"/>
                    <a:pt x="10801" y="19231"/>
                  </a:cubicBezTo>
                  <a:cubicBezTo>
                    <a:pt x="16766" y="19231"/>
                    <a:pt x="21600" y="17515"/>
                    <a:pt x="21600" y="15391"/>
                  </a:cubicBezTo>
                  <a:lnTo>
                    <a:pt x="21600" y="14428"/>
                  </a:lnTo>
                  <a:cubicBezTo>
                    <a:pt x="21458" y="14602"/>
                    <a:pt x="21295" y="14772"/>
                    <a:pt x="21098" y="14935"/>
                  </a:cubicBezTo>
                  <a:cubicBezTo>
                    <a:pt x="20508" y="15436"/>
                    <a:pt x="19672" y="15877"/>
                    <a:pt x="18618" y="16252"/>
                  </a:cubicBezTo>
                  <a:cubicBezTo>
                    <a:pt x="16520" y="16998"/>
                    <a:pt x="13745" y="17406"/>
                    <a:pt x="10801" y="17406"/>
                  </a:cubicBezTo>
                  <a:cubicBezTo>
                    <a:pt x="7856" y="17406"/>
                    <a:pt x="5080" y="16998"/>
                    <a:pt x="2982" y="16252"/>
                  </a:cubicBezTo>
                  <a:cubicBezTo>
                    <a:pt x="1928" y="15877"/>
                    <a:pt x="1099" y="15436"/>
                    <a:pt x="504" y="14935"/>
                  </a:cubicBezTo>
                  <a:cubicBezTo>
                    <a:pt x="307" y="14772"/>
                    <a:pt x="142" y="14602"/>
                    <a:pt x="0" y="14428"/>
                  </a:cubicBezTo>
                  <a:close/>
                  <a:moveTo>
                    <a:pt x="0" y="16797"/>
                  </a:moveTo>
                  <a:lnTo>
                    <a:pt x="0" y="17760"/>
                  </a:lnTo>
                  <a:cubicBezTo>
                    <a:pt x="0" y="19879"/>
                    <a:pt x="4836" y="21600"/>
                    <a:pt x="10801" y="21600"/>
                  </a:cubicBezTo>
                  <a:cubicBezTo>
                    <a:pt x="16766" y="21600"/>
                    <a:pt x="21600" y="19879"/>
                    <a:pt x="21600" y="17760"/>
                  </a:cubicBezTo>
                  <a:lnTo>
                    <a:pt x="21600" y="16797"/>
                  </a:lnTo>
                  <a:cubicBezTo>
                    <a:pt x="21458" y="16971"/>
                    <a:pt x="21295" y="17141"/>
                    <a:pt x="21098" y="17304"/>
                  </a:cubicBezTo>
                  <a:cubicBezTo>
                    <a:pt x="20508" y="17805"/>
                    <a:pt x="19672" y="18246"/>
                    <a:pt x="18618" y="18622"/>
                  </a:cubicBezTo>
                  <a:cubicBezTo>
                    <a:pt x="16520" y="19368"/>
                    <a:pt x="13745" y="19775"/>
                    <a:pt x="10801" y="19775"/>
                  </a:cubicBezTo>
                  <a:cubicBezTo>
                    <a:pt x="7856" y="19775"/>
                    <a:pt x="5080" y="19368"/>
                    <a:pt x="2982" y="18622"/>
                  </a:cubicBezTo>
                  <a:cubicBezTo>
                    <a:pt x="1928" y="18246"/>
                    <a:pt x="1099" y="17805"/>
                    <a:pt x="504" y="17304"/>
                  </a:cubicBezTo>
                  <a:cubicBezTo>
                    <a:pt x="307" y="17141"/>
                    <a:pt x="142" y="16971"/>
                    <a:pt x="0" y="16797"/>
                  </a:cubicBezTo>
                  <a:close/>
                </a:path>
              </a:pathLst>
            </a:custGeom>
            <a:solidFill>
              <a:srgbClr val="1DAD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348" name="Google Shape;242;p37"/>
            <p:cNvSpPr txBox="1"/>
            <p:nvPr/>
          </p:nvSpPr>
          <p:spPr>
            <a:xfrm>
              <a:off x="41969" y="1762226"/>
              <a:ext cx="418422" cy="237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 algn="ctr">
                <a:defRPr b="1" sz="1300"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/>
              <a:r>
                <a:t>Data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416;p43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 defTabSz="905255">
              <a:lnSpc>
                <a:spcPct val="90000"/>
              </a:lnSpc>
              <a:defRPr sz="3267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“Give me a model for X with Y data” (Part 4/4)</a:t>
            </a:r>
          </a:p>
        </p:txBody>
      </p:sp>
      <p:sp>
        <p:nvSpPr>
          <p:cNvPr id="352" name="Google Shape;399;p43"/>
          <p:cNvSpPr txBox="1"/>
          <p:nvPr>
            <p:ph type="body" sz="quarter" idx="1"/>
          </p:nvPr>
        </p:nvSpPr>
        <p:spPr>
          <a:xfrm>
            <a:off x="241916" y="3248933"/>
            <a:ext cx="7992900" cy="1171696"/>
          </a:xfrm>
          <a:prstGeom prst="rect">
            <a:avLst/>
          </a:prstGeom>
        </p:spPr>
        <p:txBody>
          <a:bodyPr/>
          <a:lstStyle/>
          <a:p>
            <a:pPr marL="241300" indent="-236695">
              <a:lnSpc>
                <a:spcPct val="80000"/>
              </a:lnSpc>
              <a:spcBef>
                <a:spcPts val="0"/>
              </a:spcBef>
              <a:buClr>
                <a:srgbClr val="797ED6"/>
              </a:buClr>
              <a:buSzPct val="127777"/>
              <a:defRPr b="1" sz="1600">
                <a:solidFill>
                  <a:srgbClr val="797ED6"/>
                </a:solidFill>
              </a:defRPr>
            </a:pPr>
            <a:r>
              <a:t>Architecture search space</a:t>
            </a:r>
            <a:r>
              <a:rPr b="0">
                <a:solidFill>
                  <a:srgbClr val="0B3550"/>
                </a:solidFill>
              </a:rPr>
              <a:t>: represent</a:t>
            </a:r>
            <a:r>
              <a:rPr b="0" i="1">
                <a:solidFill>
                  <a:srgbClr val="0B3550"/>
                </a:solidFill>
              </a:rPr>
              <a:t> </a:t>
            </a:r>
            <a:r>
              <a:rPr b="0" i="1" sz="1500">
                <a:solidFill>
                  <a:srgbClr val="0B3550"/>
                </a:solidFill>
              </a:rPr>
              <a:t>relevant</a:t>
            </a:r>
            <a:r>
              <a:rPr b="0" sz="1500">
                <a:solidFill>
                  <a:srgbClr val="0B3550"/>
                </a:solidFill>
              </a:rPr>
              <a:t> models</a:t>
            </a:r>
          </a:p>
          <a:p>
            <a:pPr marL="241300" indent="-236695">
              <a:lnSpc>
                <a:spcPct val="80000"/>
              </a:lnSpc>
              <a:spcBef>
                <a:spcPts val="1100"/>
              </a:spcBef>
              <a:buClr>
                <a:srgbClr val="EB220C"/>
              </a:buClr>
              <a:buSzPct val="127777"/>
              <a:defRPr b="1" sz="1600">
                <a:solidFill>
                  <a:srgbClr val="EB220C"/>
                </a:solidFill>
              </a:defRPr>
            </a:pPr>
            <a:r>
              <a:t>Meta-learning, transfer learning</a:t>
            </a:r>
            <a:r>
              <a:rPr b="0">
                <a:solidFill>
                  <a:srgbClr val="0B3550"/>
                </a:solidFill>
              </a:rPr>
              <a:t>: transfer </a:t>
            </a:r>
            <a:r>
              <a:rPr b="0" i="1">
                <a:solidFill>
                  <a:srgbClr val="0B3550"/>
                </a:solidFill>
              </a:rPr>
              <a:t>experience</a:t>
            </a:r>
            <a:r>
              <a:rPr b="0">
                <a:solidFill>
                  <a:srgbClr val="0B3550"/>
                </a:solidFill>
              </a:rPr>
              <a:t> from previous tasks</a:t>
            </a:r>
            <a:endParaRPr b="0">
              <a:solidFill>
                <a:srgbClr val="0B3550"/>
              </a:solidFill>
            </a:endParaRPr>
          </a:p>
          <a:p>
            <a:pPr marL="241300" indent="-236695">
              <a:lnSpc>
                <a:spcPct val="80000"/>
              </a:lnSpc>
              <a:spcBef>
                <a:spcPts val="1100"/>
              </a:spcBef>
              <a:buClr>
                <a:schemeClr val="accent2"/>
              </a:buClr>
              <a:buSzPct val="127777"/>
              <a:defRPr b="1" sz="1600">
                <a:solidFill>
                  <a:schemeClr val="accent2">
                    <a:lumOff val="-2588"/>
                  </a:schemeClr>
                </a:solidFill>
              </a:defRPr>
            </a:pPr>
            <a:r>
              <a:rPr>
                <a:solidFill>
                  <a:srgbClr val="BC4423"/>
                </a:solidFill>
              </a:rPr>
              <a:t>Warm</a:t>
            </a:r>
            <a:r>
              <a:t> </a:t>
            </a:r>
            <a:r>
              <a:rPr>
                <a:solidFill>
                  <a:srgbClr val="5C8C29"/>
                </a:solidFill>
              </a:rPr>
              <a:t>start</a:t>
            </a:r>
            <a:r>
              <a:rPr b="0"/>
              <a:t>: start from promising architectures/configurations/initializations</a:t>
            </a:r>
          </a:p>
        </p:txBody>
      </p:sp>
      <p:pic>
        <p:nvPicPr>
          <p:cNvPr id="353" name="Google Shape;189;p35" descr="Google Shape;189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6718" y="729824"/>
            <a:ext cx="1822952" cy="1741251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Google Shape;431;p44"/>
          <p:cNvSpPr/>
          <p:nvPr/>
        </p:nvSpPr>
        <p:spPr>
          <a:xfrm>
            <a:off x="2259484" y="1306099"/>
            <a:ext cx="1776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5" name="Google Shape;372;p42"/>
          <p:cNvSpPr/>
          <p:nvPr/>
        </p:nvSpPr>
        <p:spPr>
          <a:xfrm>
            <a:off x="2722474" y="722871"/>
            <a:ext cx="916887" cy="470101"/>
          </a:xfrm>
          <a:prstGeom prst="roundRect">
            <a:avLst>
              <a:gd name="adj" fmla="val 20389"/>
            </a:avLst>
          </a:prstGeom>
          <a:solidFill>
            <a:srgbClr val="7B7DD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Search space</a:t>
            </a:r>
          </a:p>
        </p:txBody>
      </p:sp>
      <p:sp>
        <p:nvSpPr>
          <p:cNvPr id="356" name="Google Shape;376;p42"/>
          <p:cNvSpPr/>
          <p:nvPr/>
        </p:nvSpPr>
        <p:spPr>
          <a:xfrm>
            <a:off x="5601682" y="1455318"/>
            <a:ext cx="850108" cy="470101"/>
          </a:xfrm>
          <a:prstGeom prst="roundRect">
            <a:avLst>
              <a:gd name="adj" fmla="val 20389"/>
            </a:avLst>
          </a:prstGeom>
          <a:solidFill>
            <a:srgbClr val="7B7DD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Best model</a:t>
            </a:r>
          </a:p>
        </p:txBody>
      </p:sp>
      <p:sp>
        <p:nvSpPr>
          <p:cNvPr id="357" name="Google Shape;379;p42"/>
          <p:cNvSpPr/>
          <p:nvPr/>
        </p:nvSpPr>
        <p:spPr>
          <a:xfrm>
            <a:off x="3690570" y="982428"/>
            <a:ext cx="461121" cy="46112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8" name="Google Shape;380;p42"/>
          <p:cNvSpPr/>
          <p:nvPr/>
        </p:nvSpPr>
        <p:spPr>
          <a:xfrm>
            <a:off x="3683611" y="1713207"/>
            <a:ext cx="4660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9" name="Google Shape;383;p42"/>
          <p:cNvSpPr/>
          <p:nvPr/>
        </p:nvSpPr>
        <p:spPr>
          <a:xfrm flipV="1">
            <a:off x="2470545" y="914153"/>
            <a:ext cx="209700" cy="3789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0" name="Google Shape;384;p42"/>
          <p:cNvSpPr/>
          <p:nvPr/>
        </p:nvSpPr>
        <p:spPr>
          <a:xfrm>
            <a:off x="2467831" y="1317668"/>
            <a:ext cx="215401" cy="3642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1" name="Google Shape;387;p42"/>
          <p:cNvSpPr/>
          <p:nvPr/>
        </p:nvSpPr>
        <p:spPr>
          <a:xfrm flipV="1">
            <a:off x="3693229" y="1942505"/>
            <a:ext cx="455804" cy="455804"/>
          </a:xfrm>
          <a:prstGeom prst="line">
            <a:avLst/>
          </a:prstGeom>
          <a:ln w="25400">
            <a:solidFill>
              <a:srgbClr val="000000">
                <a:alpha val="58040"/>
              </a:srgbClr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2" name="Google Shape;389;p42"/>
          <p:cNvSpPr/>
          <p:nvPr/>
        </p:nvSpPr>
        <p:spPr>
          <a:xfrm>
            <a:off x="2471031" y="1369530"/>
            <a:ext cx="221701" cy="997500"/>
          </a:xfrm>
          <a:prstGeom prst="line">
            <a:avLst/>
          </a:prstGeom>
          <a:ln w="25400">
            <a:solidFill>
              <a:srgbClr val="000000">
                <a:alpha val="58040"/>
              </a:srgbClr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3" name="Google Shape;426;p44"/>
          <p:cNvSpPr/>
          <p:nvPr/>
        </p:nvSpPr>
        <p:spPr>
          <a:xfrm>
            <a:off x="2722474" y="1455318"/>
            <a:ext cx="953064" cy="470101"/>
          </a:xfrm>
          <a:prstGeom prst="roundRect">
            <a:avLst>
              <a:gd name="adj" fmla="val 20389"/>
            </a:avLst>
          </a:prstGeom>
          <a:gradFill>
            <a:gsLst>
              <a:gs pos="0">
                <a:srgbClr val="EB220C"/>
              </a:gs>
              <a:gs pos="100000">
                <a:srgbClr val="1DAD01"/>
              </a:gs>
            </a:gsLst>
            <a:lin ang="471487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Warm Start</a:t>
            </a:r>
          </a:p>
        </p:txBody>
      </p:sp>
      <p:sp>
        <p:nvSpPr>
          <p:cNvPr id="364" name="Google Shape;423;p44"/>
          <p:cNvSpPr/>
          <p:nvPr/>
        </p:nvSpPr>
        <p:spPr>
          <a:xfrm>
            <a:off x="2736927" y="2135556"/>
            <a:ext cx="916887" cy="470101"/>
          </a:xfrm>
          <a:prstGeom prst="roundRect">
            <a:avLst>
              <a:gd name="adj" fmla="val 20389"/>
            </a:avLst>
          </a:prstGeom>
          <a:solidFill>
            <a:srgbClr val="EB220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chemeClr val="accent2">
                    <a:lumOff val="-2588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Transfer Learning</a:t>
            </a:r>
          </a:p>
        </p:txBody>
      </p:sp>
      <p:sp>
        <p:nvSpPr>
          <p:cNvPr id="365" name="Google Shape;401;p43"/>
          <p:cNvSpPr/>
          <p:nvPr/>
        </p:nvSpPr>
        <p:spPr>
          <a:xfrm>
            <a:off x="4173375" y="1413873"/>
            <a:ext cx="915918" cy="598668"/>
          </a:xfrm>
          <a:prstGeom prst="roundRect">
            <a:avLst>
              <a:gd name="adj" fmla="val 17250"/>
            </a:avLst>
          </a:prstGeom>
          <a:solidFill>
            <a:srgbClr val="1DAD0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chemeClr val="accent2">
                    <a:lumOff val="-2588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Training with constraints</a:t>
            </a:r>
          </a:p>
        </p:txBody>
      </p:sp>
      <p:sp>
        <p:nvSpPr>
          <p:cNvPr id="366" name="Google Shape;380;p42"/>
          <p:cNvSpPr/>
          <p:nvPr/>
        </p:nvSpPr>
        <p:spPr>
          <a:xfrm>
            <a:off x="5115120" y="1692381"/>
            <a:ext cx="4660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“Here is file/code X, I want it to do Y”</a:t>
            </a:r>
          </a:p>
        </p:txBody>
      </p:sp>
      <p:grpSp>
        <p:nvGrpSpPr>
          <p:cNvPr id="391" name="Group"/>
          <p:cNvGrpSpPr/>
          <p:nvPr/>
        </p:nvGrpSpPr>
        <p:grpSpPr>
          <a:xfrm>
            <a:off x="246739" y="1449659"/>
            <a:ext cx="8650522" cy="2078706"/>
            <a:chOff x="0" y="0"/>
            <a:chExt cx="8650521" cy="2078704"/>
          </a:xfrm>
        </p:grpSpPr>
        <p:sp>
          <p:nvSpPr>
            <p:cNvPr id="369" name="Google Shape;193;p35"/>
            <p:cNvSpPr/>
            <p:nvPr/>
          </p:nvSpPr>
          <p:spPr>
            <a:xfrm>
              <a:off x="2153850" y="916943"/>
              <a:ext cx="780554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grpSp>
          <p:nvGrpSpPr>
            <p:cNvPr id="373" name="Google Shape;200;p35"/>
            <p:cNvGrpSpPr/>
            <p:nvPr/>
          </p:nvGrpSpPr>
          <p:grpSpPr>
            <a:xfrm>
              <a:off x="178374" y="393045"/>
              <a:ext cx="312027" cy="312027"/>
              <a:chOff x="0" y="0"/>
              <a:chExt cx="312026" cy="312026"/>
            </a:xfrm>
          </p:grpSpPr>
          <p:sp>
            <p:nvSpPr>
              <p:cNvPr id="370" name="Circle"/>
              <p:cNvSpPr/>
              <p:nvPr/>
            </p:nvSpPr>
            <p:spPr>
              <a:xfrm>
                <a:off x="-1" y="-1"/>
                <a:ext cx="312028" cy="312028"/>
              </a:xfrm>
              <a:prstGeom prst="ellipse">
                <a:avLst/>
              </a:prstGeom>
              <a:solidFill>
                <a:srgbClr val="FFD96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71" name="Shape"/>
              <p:cNvSpPr/>
              <p:nvPr/>
            </p:nvSpPr>
            <p:spPr>
              <a:xfrm>
                <a:off x="89779" y="93101"/>
                <a:ext cx="132468" cy="325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cubicBezTo>
                      <a:pt x="0" y="4835"/>
                      <a:pt x="1186" y="0"/>
                      <a:pt x="2650" y="0"/>
                    </a:cubicBezTo>
                    <a:cubicBezTo>
                      <a:pt x="4113" y="0"/>
                      <a:pt x="5300" y="4835"/>
                      <a:pt x="5300" y="10800"/>
                    </a:cubicBezTo>
                    <a:cubicBezTo>
                      <a:pt x="5300" y="16765"/>
                      <a:pt x="4113" y="21600"/>
                      <a:pt x="2650" y="21600"/>
                    </a:cubicBezTo>
                    <a:cubicBezTo>
                      <a:pt x="1186" y="21600"/>
                      <a:pt x="0" y="16765"/>
                      <a:pt x="0" y="10800"/>
                    </a:cubicBezTo>
                    <a:moveTo>
                      <a:pt x="16300" y="10800"/>
                    </a:moveTo>
                    <a:cubicBezTo>
                      <a:pt x="16300" y="4835"/>
                      <a:pt x="17487" y="0"/>
                      <a:pt x="18950" y="0"/>
                    </a:cubicBezTo>
                    <a:cubicBezTo>
                      <a:pt x="20414" y="0"/>
                      <a:pt x="21600" y="4835"/>
                      <a:pt x="21600" y="10800"/>
                    </a:cubicBezTo>
                    <a:cubicBezTo>
                      <a:pt x="21600" y="16765"/>
                      <a:pt x="20414" y="21600"/>
                      <a:pt x="18950" y="21600"/>
                    </a:cubicBezTo>
                    <a:cubicBezTo>
                      <a:pt x="17487" y="21600"/>
                      <a:pt x="16300" y="16765"/>
                      <a:pt x="16300" y="10800"/>
                    </a:cubicBezTo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72" name="Shape"/>
              <p:cNvSpPr/>
              <p:nvPr/>
            </p:nvSpPr>
            <p:spPr>
              <a:xfrm>
                <a:off x="-1" y="-1"/>
                <a:ext cx="312028" cy="3120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215" y="7570"/>
                    </a:moveTo>
                    <a:cubicBezTo>
                      <a:pt x="6215" y="6949"/>
                      <a:pt x="6719" y="6445"/>
                      <a:pt x="7340" y="6445"/>
                    </a:cubicBezTo>
                    <a:cubicBezTo>
                      <a:pt x="7961" y="6445"/>
                      <a:pt x="8465" y="6949"/>
                      <a:pt x="8465" y="7570"/>
                    </a:cubicBezTo>
                    <a:cubicBezTo>
                      <a:pt x="8465" y="8191"/>
                      <a:pt x="7961" y="8695"/>
                      <a:pt x="7340" y="8695"/>
                    </a:cubicBezTo>
                    <a:cubicBezTo>
                      <a:pt x="6719" y="8695"/>
                      <a:pt x="6215" y="8191"/>
                      <a:pt x="6215" y="7570"/>
                    </a:cubicBezTo>
                    <a:moveTo>
                      <a:pt x="13135" y="7570"/>
                    </a:moveTo>
                    <a:cubicBezTo>
                      <a:pt x="13135" y="6949"/>
                      <a:pt x="13639" y="6445"/>
                      <a:pt x="14260" y="6445"/>
                    </a:cubicBezTo>
                    <a:cubicBezTo>
                      <a:pt x="14881" y="6445"/>
                      <a:pt x="15385" y="6949"/>
                      <a:pt x="15385" y="7570"/>
                    </a:cubicBezTo>
                    <a:cubicBezTo>
                      <a:pt x="15385" y="8191"/>
                      <a:pt x="14881" y="8695"/>
                      <a:pt x="14260" y="8695"/>
                    </a:cubicBezTo>
                    <a:cubicBezTo>
                      <a:pt x="13639" y="8695"/>
                      <a:pt x="13135" y="8191"/>
                      <a:pt x="13135" y="7570"/>
                    </a:cubicBezTo>
                    <a:moveTo>
                      <a:pt x="4946" y="15510"/>
                    </a:moveTo>
                    <a:cubicBezTo>
                      <a:pt x="8849" y="18190"/>
                      <a:pt x="12747" y="18190"/>
                      <a:pt x="16640" y="15510"/>
                    </a:cubicBezTo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</a:path>
                </a:pathLst>
              </a:custGeom>
              <a:noFill/>
              <a:ln w="9525" cap="flat">
                <a:solidFill>
                  <a:srgbClr val="BF9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374" name="Google Shape;201;p35"/>
            <p:cNvSpPr txBox="1"/>
            <p:nvPr/>
          </p:nvSpPr>
          <p:spPr>
            <a:xfrm>
              <a:off x="0" y="738827"/>
              <a:ext cx="801348" cy="5117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sz="1000">
                  <a:solidFill>
                    <a:srgbClr val="0B3550"/>
                  </a:solidFill>
                </a:defRPr>
              </a:lvl1pPr>
            </a:lstStyle>
            <a:p>
              <a:pPr/>
              <a:r>
                <a:t>Designer User</a:t>
              </a:r>
            </a:p>
          </p:txBody>
        </p:sp>
        <p:sp>
          <p:nvSpPr>
            <p:cNvPr id="375" name="Google Shape;193;p35"/>
            <p:cNvSpPr/>
            <p:nvPr/>
          </p:nvSpPr>
          <p:spPr>
            <a:xfrm>
              <a:off x="745870" y="916943"/>
              <a:ext cx="312027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6" name="Google Shape;201;p35"/>
            <p:cNvSpPr txBox="1"/>
            <p:nvPr/>
          </p:nvSpPr>
          <p:spPr>
            <a:xfrm>
              <a:off x="576207" y="375309"/>
              <a:ext cx="801349" cy="5117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sz="1000">
                  <a:solidFill>
                    <a:srgbClr val="0B3550"/>
                  </a:solidFill>
                </a:defRPr>
              </a:lvl1pPr>
            </a:lstStyle>
            <a:p>
              <a:pPr/>
              <a:r>
                <a:t>Query + Files</a:t>
              </a:r>
            </a:p>
          </p:txBody>
        </p:sp>
        <p:grpSp>
          <p:nvGrpSpPr>
            <p:cNvPr id="379" name="Google Shape;186;p35"/>
            <p:cNvGrpSpPr/>
            <p:nvPr/>
          </p:nvGrpSpPr>
          <p:grpSpPr>
            <a:xfrm>
              <a:off x="3081706" y="0"/>
              <a:ext cx="1519347" cy="1868709"/>
              <a:chOff x="0" y="-656641"/>
              <a:chExt cx="1519345" cy="1868708"/>
            </a:xfrm>
          </p:grpSpPr>
          <p:sp>
            <p:nvSpPr>
              <p:cNvPr id="377" name="Rectangle"/>
              <p:cNvSpPr/>
              <p:nvPr/>
            </p:nvSpPr>
            <p:spPr>
              <a:xfrm>
                <a:off x="-1" y="-656642"/>
                <a:ext cx="1519344" cy="1841705"/>
              </a:xfrm>
              <a:prstGeom prst="rect">
                <a:avLst/>
              </a:prstGeom>
              <a:solidFill>
                <a:srgbClr val="75A089"/>
              </a:solidFill>
              <a:ln w="9525" cap="flat">
                <a:solidFill>
                  <a:srgbClr val="067D78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78" name="File : X…"/>
              <p:cNvSpPr txBox="1"/>
              <p:nvPr/>
            </p:nvSpPr>
            <p:spPr>
              <a:xfrm>
                <a:off x="5179" y="-621088"/>
                <a:ext cx="1514167" cy="18331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/>
              <a:p>
                <a:pPr algn="ctr">
                  <a:defRPr sz="1200"/>
                </a:pPr>
                <a:r>
                  <a:t>File : X</a:t>
                </a:r>
              </a:p>
              <a:p>
                <a:pPr algn="ctr">
                  <a:defRPr sz="1200"/>
                </a:pPr>
                <a:r>
                  <a:t>Type : Excel sheet</a:t>
                </a:r>
              </a:p>
              <a:p>
                <a:pPr algn="ctr">
                  <a:defRPr sz="1200"/>
                </a:pPr>
                <a:r>
                  <a:t>Required : Add a column to compute a magic formula</a:t>
                </a:r>
              </a:p>
            </p:txBody>
          </p:sp>
        </p:grpSp>
        <p:sp>
          <p:nvSpPr>
            <p:cNvPr id="380" name="Google Shape;201;p35"/>
            <p:cNvSpPr txBox="1"/>
            <p:nvPr/>
          </p:nvSpPr>
          <p:spPr>
            <a:xfrm>
              <a:off x="2143453" y="514795"/>
              <a:ext cx="801349" cy="371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b="1" sz="700">
                  <a:solidFill>
                    <a:srgbClr val="0B3550"/>
                  </a:solidFill>
                </a:defRPr>
              </a:lvl1pPr>
            </a:lstStyle>
            <a:p>
              <a:pPr/>
              <a:r>
                <a:t>Requirements analysis</a:t>
              </a:r>
            </a:p>
          </p:txBody>
        </p:sp>
        <p:sp>
          <p:nvSpPr>
            <p:cNvPr id="392" name="Connection Line"/>
            <p:cNvSpPr/>
            <p:nvPr/>
          </p:nvSpPr>
          <p:spPr>
            <a:xfrm>
              <a:off x="635372" y="1250599"/>
              <a:ext cx="1014524" cy="465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12886" y="21580"/>
                    <a:pt x="20086" y="21600"/>
                    <a:pt x="21600" y="61"/>
                  </a:cubicBezTo>
                </a:path>
              </a:pathLst>
            </a:custGeom>
            <a:noFill/>
            <a:ln w="25400" cap="flat">
              <a:solidFill>
                <a:srgbClr val="377B77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382" name="Google Shape;201;p35"/>
            <p:cNvSpPr txBox="1"/>
            <p:nvPr/>
          </p:nvSpPr>
          <p:spPr>
            <a:xfrm>
              <a:off x="934677" y="1706957"/>
              <a:ext cx="1369557" cy="371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b="1" sz="800">
                  <a:solidFill>
                    <a:srgbClr val="0B3550"/>
                  </a:solidFill>
                </a:defRPr>
              </a:lvl1pPr>
            </a:lstStyle>
            <a:p>
              <a:pPr/>
              <a:r>
                <a:t>I need more information</a:t>
              </a:r>
            </a:p>
          </p:txBody>
        </p:sp>
        <p:pic>
          <p:nvPicPr>
            <p:cNvPr id="383" name="Google Shape;183;p35" descr="Google Shape;183;p3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554837" y="594896"/>
              <a:ext cx="643943" cy="6200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4" name="Google Shape;193;p35"/>
            <p:cNvSpPr/>
            <p:nvPr/>
          </p:nvSpPr>
          <p:spPr>
            <a:xfrm>
              <a:off x="4688477" y="904911"/>
              <a:ext cx="780554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5" name="Google Shape;201;p35"/>
            <p:cNvSpPr txBox="1"/>
            <p:nvPr/>
          </p:nvSpPr>
          <p:spPr>
            <a:xfrm>
              <a:off x="4748355" y="514795"/>
              <a:ext cx="801349" cy="371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b="1" sz="700">
                  <a:solidFill>
                    <a:srgbClr val="0B3550"/>
                  </a:solidFill>
                </a:defRPr>
              </a:lvl1pPr>
            </a:lstStyle>
            <a:p>
              <a:pPr/>
              <a:r>
                <a:t>Formatted requirements</a:t>
              </a:r>
            </a:p>
          </p:txBody>
        </p:sp>
        <p:grpSp>
          <p:nvGrpSpPr>
            <p:cNvPr id="388" name="Google Shape;186;p35"/>
            <p:cNvGrpSpPr/>
            <p:nvPr/>
          </p:nvGrpSpPr>
          <p:grpSpPr>
            <a:xfrm>
              <a:off x="7089720" y="579013"/>
              <a:ext cx="1560802" cy="651797"/>
              <a:chOff x="0" y="-70512"/>
              <a:chExt cx="1560801" cy="651795"/>
            </a:xfrm>
          </p:grpSpPr>
          <p:sp>
            <p:nvSpPr>
              <p:cNvPr id="386" name="Rectangle"/>
              <p:cNvSpPr/>
              <p:nvPr/>
            </p:nvSpPr>
            <p:spPr>
              <a:xfrm>
                <a:off x="0" y="0"/>
                <a:ext cx="1560802" cy="510772"/>
              </a:xfrm>
              <a:prstGeom prst="rect">
                <a:avLst/>
              </a:prstGeom>
              <a:solidFill>
                <a:srgbClr val="75A089"/>
              </a:solidFill>
              <a:ln w="9525" cap="flat">
                <a:solidFill>
                  <a:srgbClr val="067D78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87" name="Processed files"/>
              <p:cNvSpPr txBox="1"/>
              <p:nvPr/>
            </p:nvSpPr>
            <p:spPr>
              <a:xfrm>
                <a:off x="5320" y="-70513"/>
                <a:ext cx="1550161" cy="6517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/>
              </a:lstStyle>
              <a:p>
                <a:pPr/>
                <a:r>
                  <a:t>Processed files</a:t>
                </a:r>
              </a:p>
            </p:txBody>
          </p:sp>
        </p:grpSp>
        <p:sp>
          <p:nvSpPr>
            <p:cNvPr id="389" name="Google Shape;193;p35"/>
            <p:cNvSpPr/>
            <p:nvPr/>
          </p:nvSpPr>
          <p:spPr>
            <a:xfrm>
              <a:off x="6218931" y="904911"/>
              <a:ext cx="780553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39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78207" y="166190"/>
              <a:ext cx="949716" cy="10689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453;p46"/>
          <p:cNvSpPr txBox="1"/>
          <p:nvPr>
            <p:ph type="title"/>
          </p:nvPr>
        </p:nvSpPr>
        <p:spPr>
          <a:xfrm>
            <a:off x="403125" y="0"/>
            <a:ext cx="8496684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 defTabSz="758951">
              <a:lnSpc>
                <a:spcPct val="90000"/>
              </a:lnSpc>
              <a:defRPr sz="2739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Model Card : Combining information from multiple sources</a:t>
            </a:r>
          </a:p>
        </p:txBody>
      </p:sp>
      <p:sp>
        <p:nvSpPr>
          <p:cNvPr id="395" name="Google Shape;455;p46"/>
          <p:cNvSpPr txBox="1"/>
          <p:nvPr>
            <p:ph type="body" sz="quarter" idx="1"/>
          </p:nvPr>
        </p:nvSpPr>
        <p:spPr>
          <a:xfrm>
            <a:off x="5654950" y="4040750"/>
            <a:ext cx="2912331" cy="459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1000"/>
              </a:lnSpc>
              <a:spcBef>
                <a:spcPts val="0"/>
              </a:spcBef>
              <a:buClrTx/>
              <a:buSzTx/>
              <a:buFontTx/>
              <a:buNone/>
              <a:defRPr sz="1700"/>
            </a:lvl1pPr>
          </a:lstStyle>
          <a:p>
            <a:pPr/>
            <a:r>
              <a:t>Similarly for datasets…</a:t>
            </a:r>
          </a:p>
        </p:txBody>
      </p:sp>
      <p:pic>
        <p:nvPicPr>
          <p:cNvPr id="39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0942" y="702956"/>
            <a:ext cx="5002998" cy="3906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Benchmarking (Part 1/2)</a:t>
            </a:r>
          </a:p>
        </p:txBody>
      </p:sp>
      <p:sp>
        <p:nvSpPr>
          <p:cNvPr id="399" name="Cylinder"/>
          <p:cNvSpPr/>
          <p:nvPr/>
        </p:nvSpPr>
        <p:spPr>
          <a:xfrm>
            <a:off x="3202553" y="1100603"/>
            <a:ext cx="704642" cy="9302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4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0" name="Model registry"/>
          <p:cNvSpPr txBox="1"/>
          <p:nvPr/>
        </p:nvSpPr>
        <p:spPr>
          <a:xfrm>
            <a:off x="3154200" y="1507043"/>
            <a:ext cx="801348" cy="30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/>
            </a:lvl1pPr>
          </a:lstStyle>
          <a:p>
            <a:pPr/>
            <a:r>
              <a:t>Model registry</a:t>
            </a:r>
          </a:p>
        </p:txBody>
      </p:sp>
      <p:grpSp>
        <p:nvGrpSpPr>
          <p:cNvPr id="404" name="Google Shape;200;p35"/>
          <p:cNvGrpSpPr/>
          <p:nvPr/>
        </p:nvGrpSpPr>
        <p:grpSpPr>
          <a:xfrm>
            <a:off x="405335" y="2264634"/>
            <a:ext cx="312027" cy="312027"/>
            <a:chOff x="0" y="0"/>
            <a:chExt cx="312026" cy="312026"/>
          </a:xfrm>
        </p:grpSpPr>
        <p:sp>
          <p:nvSpPr>
            <p:cNvPr id="401" name="Circle"/>
            <p:cNvSpPr/>
            <p:nvPr/>
          </p:nvSpPr>
          <p:spPr>
            <a:xfrm>
              <a:off x="-1" y="-1"/>
              <a:ext cx="312028" cy="312028"/>
            </a:xfrm>
            <a:prstGeom prst="ellipse">
              <a:avLst/>
            </a:prstGeom>
            <a:solidFill>
              <a:srgbClr val="FFD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402" name="Shape"/>
            <p:cNvSpPr/>
            <p:nvPr/>
          </p:nvSpPr>
          <p:spPr>
            <a:xfrm>
              <a:off x="89779" y="93101"/>
              <a:ext cx="132468" cy="32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403" name="Shape"/>
            <p:cNvSpPr/>
            <p:nvPr/>
          </p:nvSpPr>
          <p:spPr>
            <a:xfrm>
              <a:off x="-1" y="-1"/>
              <a:ext cx="312028" cy="312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9525" cap="flat">
              <a:solidFill>
                <a:srgbClr val="BF9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405" name="Google Shape;201;p35"/>
          <p:cNvSpPr txBox="1"/>
          <p:nvPr/>
        </p:nvSpPr>
        <p:spPr>
          <a:xfrm>
            <a:off x="226961" y="2610416"/>
            <a:ext cx="801348" cy="51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/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Designer User</a:t>
            </a:r>
          </a:p>
        </p:txBody>
      </p:sp>
      <p:sp>
        <p:nvSpPr>
          <p:cNvPr id="406" name="Google Shape;193;p35"/>
          <p:cNvSpPr/>
          <p:nvPr/>
        </p:nvSpPr>
        <p:spPr>
          <a:xfrm>
            <a:off x="972831" y="2788532"/>
            <a:ext cx="312027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7" name="Google Shape;201;p35"/>
          <p:cNvSpPr txBox="1"/>
          <p:nvPr/>
        </p:nvSpPr>
        <p:spPr>
          <a:xfrm>
            <a:off x="796576" y="2477641"/>
            <a:ext cx="80134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/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Some task</a:t>
            </a:r>
          </a:p>
        </p:txBody>
      </p:sp>
      <p:pic>
        <p:nvPicPr>
          <p:cNvPr id="40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5168" y="2037779"/>
            <a:ext cx="949716" cy="1068958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Google Shape;193;p35"/>
          <p:cNvSpPr/>
          <p:nvPr/>
        </p:nvSpPr>
        <p:spPr>
          <a:xfrm>
            <a:off x="2418360" y="2788532"/>
            <a:ext cx="460289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12" name="Google Shape;186;p35"/>
          <p:cNvGrpSpPr/>
          <p:nvPr/>
        </p:nvGrpSpPr>
        <p:grpSpPr>
          <a:xfrm>
            <a:off x="2942125" y="2532646"/>
            <a:ext cx="1225498" cy="511773"/>
            <a:chOff x="0" y="-55364"/>
            <a:chExt cx="1225496" cy="511771"/>
          </a:xfrm>
        </p:grpSpPr>
        <p:sp>
          <p:nvSpPr>
            <p:cNvPr id="410" name="Rectangle"/>
            <p:cNvSpPr/>
            <p:nvPr/>
          </p:nvSpPr>
          <p:spPr>
            <a:xfrm>
              <a:off x="0" y="0"/>
              <a:ext cx="1225497" cy="401043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411" name="Best model"/>
            <p:cNvSpPr txBox="1"/>
            <p:nvPr/>
          </p:nvSpPr>
          <p:spPr>
            <a:xfrm>
              <a:off x="4177" y="-55365"/>
              <a:ext cx="1217143" cy="511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 algn="ctr"/>
            </a:lstStyle>
            <a:p>
              <a:pPr/>
              <a:r>
                <a:t>Best model</a:t>
              </a:r>
            </a:p>
          </p:txBody>
        </p:sp>
      </p:grpSp>
      <p:sp>
        <p:nvSpPr>
          <p:cNvPr id="413" name="Google Shape;193;p35"/>
          <p:cNvSpPr/>
          <p:nvPr/>
        </p:nvSpPr>
        <p:spPr>
          <a:xfrm flipH="1">
            <a:off x="2216285" y="1875238"/>
            <a:ext cx="856488" cy="600782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4" name="Google Shape;201;p35"/>
          <p:cNvSpPr txBox="1"/>
          <p:nvPr/>
        </p:nvSpPr>
        <p:spPr>
          <a:xfrm rot="19320000">
            <a:off x="2247830" y="1885527"/>
            <a:ext cx="80134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/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415" name="Cylinder"/>
          <p:cNvSpPr/>
          <p:nvPr/>
        </p:nvSpPr>
        <p:spPr>
          <a:xfrm>
            <a:off x="5182086" y="2310999"/>
            <a:ext cx="704642" cy="930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4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6" name="Runs linked to task, dataset"/>
          <p:cNvSpPr txBox="1"/>
          <p:nvPr/>
        </p:nvSpPr>
        <p:spPr>
          <a:xfrm>
            <a:off x="5199660" y="2563787"/>
            <a:ext cx="669495" cy="60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/>
            </a:lvl1pPr>
          </a:lstStyle>
          <a:p>
            <a:pPr/>
            <a:r>
              <a:t>Runs linked to task, dataset</a:t>
            </a:r>
          </a:p>
        </p:txBody>
      </p:sp>
      <p:sp>
        <p:nvSpPr>
          <p:cNvPr id="417" name="Google Shape;193;p35"/>
          <p:cNvSpPr/>
          <p:nvPr/>
        </p:nvSpPr>
        <p:spPr>
          <a:xfrm>
            <a:off x="4231099" y="2788532"/>
            <a:ext cx="87481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8" name="Google Shape;193;p35"/>
          <p:cNvSpPr/>
          <p:nvPr/>
        </p:nvSpPr>
        <p:spPr>
          <a:xfrm flipV="1">
            <a:off x="3531991" y="2062792"/>
            <a:ext cx="1" cy="450590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Benchmarking (Part 2/2)</a:t>
            </a:r>
          </a:p>
        </p:txBody>
      </p:sp>
      <p:pic>
        <p:nvPicPr>
          <p:cNvPr id="42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733" y="689417"/>
            <a:ext cx="6671343" cy="39908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Initial Steps (Part 1/2)</a:t>
            </a:r>
          </a:p>
        </p:txBody>
      </p:sp>
      <p:sp>
        <p:nvSpPr>
          <p:cNvPr id="424" name="Google Shape;193;p35"/>
          <p:cNvSpPr/>
          <p:nvPr/>
        </p:nvSpPr>
        <p:spPr>
          <a:xfrm>
            <a:off x="3791638" y="2458900"/>
            <a:ext cx="325973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2448" y="1924421"/>
            <a:ext cx="949716" cy="1068958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Google Shape;193;p35"/>
          <p:cNvSpPr/>
          <p:nvPr/>
        </p:nvSpPr>
        <p:spPr>
          <a:xfrm>
            <a:off x="4815238" y="2458900"/>
            <a:ext cx="691403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7" name="Task type : TabularSupervisedClassificationTask Do we need to train: Yes Train file : train.csv Test file : test.csv Target column : ?"/>
          <p:cNvSpPr txBox="1"/>
          <p:nvPr/>
        </p:nvSpPr>
        <p:spPr>
          <a:xfrm>
            <a:off x="5535079" y="1396427"/>
            <a:ext cx="2780772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>
                <a:solidFill>
                  <a:schemeClr val="accent2">
                    <a:lumOff val="-2588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/>
              <a:t>Task type :</a:t>
            </a:r>
            <a:r>
              <a:t> TabularSupervisedClassificationTask</a:t>
            </a:r>
            <a:br/>
            <a:r>
              <a:rPr b="1"/>
              <a:t>Do we need to train:</a:t>
            </a:r>
            <a:r>
              <a:t> Yes</a:t>
            </a:r>
            <a:br/>
            <a:r>
              <a:rPr b="1"/>
              <a:t>Train file :</a:t>
            </a:r>
            <a:r>
              <a:t> train.csv</a:t>
            </a:r>
            <a:br/>
            <a:r>
              <a:rPr b="1"/>
              <a:t>Test file :</a:t>
            </a:r>
            <a:r>
              <a:t> test.csv</a:t>
            </a:r>
            <a:br/>
            <a:r>
              <a:rPr b="1"/>
              <a:t>Target column :</a:t>
            </a:r>
            <a:r>
              <a:t> ?</a:t>
            </a:r>
            <a:br/>
          </a:p>
        </p:txBody>
      </p:sp>
      <p:pic>
        <p:nvPicPr>
          <p:cNvPr id="42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132" y="1210020"/>
            <a:ext cx="3664243" cy="2587714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Connection Line"/>
          <p:cNvSpPr/>
          <p:nvPr/>
        </p:nvSpPr>
        <p:spPr>
          <a:xfrm>
            <a:off x="4585632" y="2992743"/>
            <a:ext cx="1963617" cy="857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fill="norm" stroke="1" extrusionOk="0">
                <a:moveTo>
                  <a:pt x="0" y="0"/>
                </a:moveTo>
                <a:cubicBezTo>
                  <a:pt x="7509" y="21415"/>
                  <a:pt x="14709" y="21600"/>
                  <a:pt x="21600" y="554"/>
                </a:cubicBezTo>
              </a:path>
            </a:pathLst>
          </a:custGeom>
          <a:ln w="25400">
            <a:solidFill>
              <a:srgbClr val="377B77"/>
            </a:solidFill>
            <a:miter lim="400000"/>
            <a:headEnd type="arrow"/>
            <a:tailEnd type="arrow"/>
          </a:ln>
        </p:spPr>
        <p:txBody>
          <a:bodyPr/>
          <a:lstStyle/>
          <a:p>
            <a:pPr/>
          </a:p>
        </p:txBody>
      </p:sp>
      <p:sp>
        <p:nvSpPr>
          <p:cNvPr id="430" name="Extract"/>
          <p:cNvSpPr txBox="1"/>
          <p:nvPr/>
        </p:nvSpPr>
        <p:spPr>
          <a:xfrm>
            <a:off x="4800060" y="2248908"/>
            <a:ext cx="56598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Extract</a:t>
            </a:r>
          </a:p>
        </p:txBody>
      </p:sp>
      <p:sp>
        <p:nvSpPr>
          <p:cNvPr id="431" name="Missing information Chat"/>
          <p:cNvSpPr txBox="1"/>
          <p:nvPr/>
        </p:nvSpPr>
        <p:spPr>
          <a:xfrm>
            <a:off x="4676539" y="3886599"/>
            <a:ext cx="196928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Missing information Chat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Initial Steps (Part 2/2)</a:t>
            </a:r>
          </a:p>
        </p:txBody>
      </p:sp>
      <p:pic>
        <p:nvPicPr>
          <p:cNvPr id="435" name="SCR-20250602-cflh.png" descr="SCR-20250602-cflh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0783" y="840333"/>
            <a:ext cx="4274341" cy="38715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Question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Questions?</a:t>
            </a:r>
          </a:p>
        </p:txBody>
      </p:sp>
      <p:pic>
        <p:nvPicPr>
          <p:cNvPr id="438" name="bowing-thank-you.gif" descr="bowing-thank-you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71309" y="1937379"/>
            <a:ext cx="2794001" cy="2095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